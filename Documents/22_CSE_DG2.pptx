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258" r:id="rId3"/>
    <p:sldId id="259" r:id="rId4"/>
    <p:sldId id="260" r:id="rId5"/>
    <p:sldId id="261" r:id="rId6"/>
    <p:sldId id="263" r:id="rId7"/>
    <p:sldId id="278" r:id="rId8"/>
    <p:sldId id="265" r:id="rId9"/>
    <p:sldId id="266" r:id="rId10"/>
    <p:sldId id="267" r:id="rId11"/>
    <p:sldId id="268" r:id="rId12"/>
    <p:sldId id="274" r:id="rId13"/>
    <p:sldId id="275" r:id="rId14"/>
    <p:sldId id="279" r:id="rId15"/>
    <p:sldId id="280" r:id="rId16"/>
    <p:sldId id="281" r:id="rId17"/>
    <p:sldId id="282" r:id="rId18"/>
    <p:sldId id="270" r:id="rId19"/>
    <p:sldId id="276" r:id="rId20"/>
    <p:sldId id="271" r:id="rId21"/>
    <p:sldId id="272" r:id="rId22"/>
    <p:sldId id="273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94" autoAdjust="0"/>
  </p:normalViewPr>
  <p:slideViewPr>
    <p:cSldViewPr>
      <p:cViewPr>
        <p:scale>
          <a:sx n="76" d="100"/>
          <a:sy n="76" d="100"/>
        </p:scale>
        <p:origin x="-4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F412B-6FA9-4B3A-A61B-0552AC73DE3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C2694-AF22-425F-B4CB-353623C470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3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23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77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4C2694-AF22-425F-B4CB-353623C470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067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150" y="38100"/>
            <a:ext cx="3667124" cy="5048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45463" y="283463"/>
            <a:ext cx="10101072" cy="1200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1730872"/>
            <a:ext cx="8149590" cy="308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05148" y="6451049"/>
            <a:ext cx="64452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7575" y="6451049"/>
            <a:ext cx="737235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r>
              <a:rPr spc="-10" dirty="0"/>
              <a:t>19-12-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104626" y="6451049"/>
            <a:ext cx="2159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19200" y="212641"/>
            <a:ext cx="10101072" cy="1931793"/>
          </a:xfrm>
          <a:prstGeom prst="rect">
            <a:avLst/>
          </a:prstGeom>
        </p:spPr>
        <p:txBody>
          <a:bodyPr vert="horz" wrap="square" lIns="0" tIns="478010" rIns="0" bIns="0" rtlCol="0">
            <a:spAutoFit/>
          </a:bodyPr>
          <a:lstStyle/>
          <a:p>
            <a:pPr marL="248285" algn="ctr">
              <a:lnSpc>
                <a:spcPct val="100000"/>
              </a:lnSpc>
              <a:spcBef>
                <a:spcPts val="509"/>
              </a:spcBef>
            </a:pPr>
            <a:r>
              <a:rPr sz="1800" dirty="0"/>
              <a:t>Department</a:t>
            </a:r>
            <a:r>
              <a:rPr sz="1800" spc="-20" dirty="0"/>
              <a:t> </a:t>
            </a:r>
            <a:r>
              <a:rPr sz="1800" dirty="0"/>
              <a:t>of</a:t>
            </a:r>
            <a:r>
              <a:rPr sz="1800" spc="-5" dirty="0"/>
              <a:t> </a:t>
            </a:r>
            <a:r>
              <a:rPr sz="1800" dirty="0"/>
              <a:t>Computer</a:t>
            </a:r>
            <a:r>
              <a:rPr sz="1800" spc="-60" dirty="0"/>
              <a:t> </a:t>
            </a:r>
            <a:r>
              <a:rPr sz="1800" dirty="0"/>
              <a:t>Science</a:t>
            </a:r>
            <a:r>
              <a:rPr sz="1800" spc="15" dirty="0"/>
              <a:t> </a:t>
            </a:r>
            <a:r>
              <a:rPr sz="1800" dirty="0" smtClean="0"/>
              <a:t>and</a:t>
            </a:r>
            <a:r>
              <a:rPr sz="1800" spc="40" dirty="0" smtClean="0"/>
              <a:t> </a:t>
            </a:r>
            <a:r>
              <a:rPr sz="1800" spc="-10" dirty="0" smtClean="0"/>
              <a:t>Engineering</a:t>
            </a:r>
            <a:endParaRPr lang="en-US" sz="1800" spc="-10" dirty="0" smtClean="0"/>
          </a:p>
          <a:p>
            <a:pPr marL="248285" algn="ctr">
              <a:lnSpc>
                <a:spcPct val="100000"/>
              </a:lnSpc>
              <a:spcBef>
                <a:spcPts val="545"/>
              </a:spcBef>
            </a:pPr>
            <a:r>
              <a:rPr lang="en-US" sz="2400" dirty="0" smtClean="0">
                <a:solidFill>
                  <a:srgbClr val="FF0000"/>
                </a:solidFill>
              </a:rPr>
              <a:t>ADAPTIVE INTRUSION DETECTION USING HYBRID DEEP LEARNING MODELS AND FEATURE SELECTION</a:t>
            </a:r>
            <a:br>
              <a:rPr lang="en-US" sz="2400" dirty="0" smtClean="0">
                <a:solidFill>
                  <a:srgbClr val="FF0000"/>
                </a:solidFill>
              </a:rPr>
            </a:br>
            <a:endParaRPr lang="en-US" sz="2400" dirty="0"/>
          </a:p>
        </p:txBody>
      </p:sp>
      <p:sp>
        <p:nvSpPr>
          <p:cNvPr id="4" name="object 4"/>
          <p:cNvSpPr txBox="1"/>
          <p:nvPr/>
        </p:nvSpPr>
        <p:spPr>
          <a:xfrm>
            <a:off x="5518213" y="1983376"/>
            <a:ext cx="1503045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latin typeface="Times New Roman"/>
                <a:cs typeface="Times New Roman"/>
              </a:rPr>
              <a:t>PRESENTED</a:t>
            </a:r>
            <a:r>
              <a:rPr sz="1550" spc="1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Times New Roman"/>
                <a:cs typeface="Times New Roman"/>
              </a:rPr>
              <a:t>BY</a:t>
            </a: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67200" y="2354448"/>
            <a:ext cx="4304665" cy="1697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smtClean="0">
                <a:latin typeface="Times New Roman"/>
                <a:cs typeface="Times New Roman"/>
              </a:rPr>
              <a:t>T. DurgaBhavani</a:t>
            </a:r>
            <a:r>
              <a:rPr lang="en-US" sz="1550" dirty="0">
                <a:latin typeface="Times New Roman"/>
                <a:cs typeface="Times New Roman"/>
              </a:rPr>
              <a:t>	 (</a:t>
            </a:r>
            <a:r>
              <a:rPr lang="en-US" sz="1550" dirty="0" smtClean="0">
                <a:latin typeface="Times New Roman"/>
                <a:cs typeface="Times New Roman"/>
              </a:rPr>
              <a:t>22471A05O6)</a:t>
            </a:r>
            <a:endParaRPr lang="en-US" sz="15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smtClean="0">
                <a:latin typeface="Times New Roman"/>
                <a:cs typeface="Times New Roman"/>
              </a:rPr>
              <a:t>G. Kavya</a:t>
            </a:r>
            <a:r>
              <a:rPr lang="en-US" sz="1550" dirty="0">
                <a:latin typeface="Times New Roman"/>
                <a:cs typeface="Times New Roman"/>
              </a:rPr>
              <a:t>	</a:t>
            </a:r>
            <a:r>
              <a:rPr lang="en-US" sz="1550" dirty="0" smtClean="0">
                <a:latin typeface="Times New Roman"/>
                <a:cs typeface="Times New Roman"/>
              </a:rPr>
              <a:t>                    </a:t>
            </a:r>
            <a:r>
              <a:rPr lang="en-US" sz="1550" dirty="0">
                <a:latin typeface="Times New Roman"/>
                <a:cs typeface="Times New Roman"/>
              </a:rPr>
              <a:t>(</a:t>
            </a:r>
            <a:r>
              <a:rPr lang="en-US" sz="1550" dirty="0" smtClean="0">
                <a:latin typeface="Times New Roman"/>
                <a:cs typeface="Times New Roman"/>
              </a:rPr>
              <a:t>22471A05M4)</a:t>
            </a:r>
            <a:endParaRPr lang="en-US" sz="15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smtClean="0">
                <a:latin typeface="Times New Roman"/>
                <a:cs typeface="Times New Roman"/>
              </a:rPr>
              <a:t>SK. Y.Khajabi</a:t>
            </a:r>
            <a:r>
              <a:rPr lang="en-US" sz="1550" dirty="0">
                <a:latin typeface="Times New Roman"/>
                <a:cs typeface="Times New Roman"/>
              </a:rPr>
              <a:t> </a:t>
            </a:r>
            <a:r>
              <a:rPr lang="en-US" sz="1550" dirty="0" smtClean="0">
                <a:latin typeface="Times New Roman"/>
                <a:cs typeface="Times New Roman"/>
              </a:rPr>
              <a:t>              </a:t>
            </a:r>
            <a:r>
              <a:rPr lang="en-US" sz="1550" dirty="0">
                <a:latin typeface="Times New Roman"/>
                <a:cs typeface="Times New Roman"/>
              </a:rPr>
              <a:t>(</a:t>
            </a:r>
            <a:r>
              <a:rPr lang="en-US" sz="1550" dirty="0" smtClean="0">
                <a:latin typeface="Times New Roman"/>
                <a:cs typeface="Times New Roman"/>
              </a:rPr>
              <a:t>22471A05O3)</a:t>
            </a: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r>
              <a:rPr lang="en-US" sz="1550" dirty="0" smtClean="0">
                <a:latin typeface="Times New Roman"/>
                <a:cs typeface="Times New Roman"/>
              </a:rPr>
              <a:t>A.Deepthi Priya             (23475A0513)</a:t>
            </a:r>
            <a:endParaRPr lang="en-US" sz="155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37300"/>
              </a:lnSpc>
              <a:spcBef>
                <a:spcPts val="95"/>
              </a:spcBef>
            </a:pPr>
            <a:endParaRPr sz="155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8610" y="3709034"/>
            <a:ext cx="4304665" cy="2249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Under</a:t>
            </a:r>
            <a:r>
              <a:rPr sz="1800" spc="2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the</a:t>
            </a:r>
            <a:r>
              <a:rPr sz="1800" spc="-30" dirty="0">
                <a:solidFill>
                  <a:srgbClr val="0066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600"/>
                </a:solidFill>
                <a:latin typeface="Times New Roman"/>
                <a:cs typeface="Times New Roman"/>
              </a:rPr>
              <a:t>Guidance</a:t>
            </a:r>
            <a:r>
              <a:rPr sz="1800" spc="-25" dirty="0">
                <a:solidFill>
                  <a:srgbClr val="006600"/>
                </a:solidFill>
                <a:latin typeface="Times New Roman"/>
                <a:cs typeface="Times New Roman"/>
              </a:rPr>
              <a:t> of,</a:t>
            </a:r>
            <a:endParaRPr sz="1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lang="en-US" sz="1550" b="1" dirty="0" smtClean="0">
                <a:latin typeface="Times New Roman"/>
                <a:cs typeface="Times New Roman"/>
              </a:rPr>
              <a:t>Dr.K.Suresh Babu </a:t>
            </a:r>
            <a:r>
              <a:rPr lang="en-US" sz="1200" b="1" dirty="0" smtClean="0">
                <a:latin typeface="Times New Roman"/>
                <a:cs typeface="Times New Roman"/>
              </a:rPr>
              <a:t>Ph.D</a:t>
            </a:r>
            <a:r>
              <a:rPr sz="1550" b="1" spc="-10" dirty="0" smtClean="0"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470"/>
              </a:spcBef>
            </a:pPr>
            <a:r>
              <a:rPr lang="en-US" sz="1550" spc="-10" dirty="0" smtClean="0">
                <a:solidFill>
                  <a:srgbClr val="888888"/>
                </a:solidFill>
                <a:latin typeface="Times New Roman"/>
                <a:cs typeface="Times New Roman"/>
              </a:rPr>
              <a:t>Associate </a:t>
            </a:r>
            <a:r>
              <a:rPr lang="en-US"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Professor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,</a:t>
            </a:r>
            <a:endParaRPr sz="15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95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550" spc="9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550" spc="1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Computer</a:t>
            </a:r>
            <a:r>
              <a:rPr sz="1550" spc="8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Science</a:t>
            </a:r>
            <a:r>
              <a:rPr sz="1550" spc="14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and</a:t>
            </a:r>
            <a:r>
              <a:rPr sz="1550" spc="13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Engineering,</a:t>
            </a:r>
            <a:endParaRPr sz="1550" dirty="0">
              <a:latin typeface="Times New Roman"/>
              <a:cs typeface="Times New Roman"/>
            </a:endParaRPr>
          </a:p>
          <a:p>
            <a:pPr marL="57785" marR="61594" algn="ctr">
              <a:lnSpc>
                <a:spcPct val="173700"/>
              </a:lnSpc>
              <a:spcBef>
                <a:spcPts val="70"/>
              </a:spcBef>
            </a:pP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Narasaraopeta</a:t>
            </a:r>
            <a:r>
              <a:rPr sz="1550" spc="20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Engineering</a:t>
            </a:r>
            <a:r>
              <a:rPr sz="1550" spc="185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College</a:t>
            </a:r>
            <a:r>
              <a:rPr sz="1550" spc="204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888888"/>
                </a:solidFill>
                <a:latin typeface="Times New Roman"/>
                <a:cs typeface="Times New Roman"/>
              </a:rPr>
              <a:t>(Autonomous),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Narasaraopet-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888888"/>
                </a:solidFill>
                <a:latin typeface="Times New Roman"/>
                <a:cs typeface="Times New Roman"/>
              </a:rPr>
              <a:t>522</a:t>
            </a:r>
            <a:r>
              <a:rPr sz="1550" spc="1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888888"/>
                </a:solidFill>
                <a:latin typeface="Times New Roman"/>
                <a:cs typeface="Times New Roman"/>
              </a:rPr>
              <a:t>601.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144553"/>
            <a:ext cx="3648074" cy="50532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1684019" y="6560875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20" dirty="0" smtClean="0"/>
              <a:t>date</a:t>
            </a:r>
            <a:endParaRPr spc="-20" dirty="0"/>
          </a:p>
        </p:txBody>
      </p:sp>
      <p:sp>
        <p:nvSpPr>
          <p:cNvPr id="10" name="object 10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/>
              <a:t>Batch</a:t>
            </a:r>
            <a:r>
              <a:rPr spc="-55" dirty="0"/>
              <a:t> </a:t>
            </a:r>
            <a:r>
              <a:rPr spc="-25" dirty="0"/>
              <a:t>No.</a:t>
            </a:r>
            <a:r>
              <a:rPr lang="en-US" spc="-25" dirty="0" smtClean="0"/>
              <a:t>DG2</a:t>
            </a:r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9255" y="529843"/>
            <a:ext cx="2613025" cy="7010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895600" y="6471787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</a:p>
          <a:p>
            <a:pPr marL="12700">
              <a:lnSpc>
                <a:spcPts val="1410"/>
              </a:lnSpc>
            </a:pPr>
            <a:endParaRPr lang="en-US" spc="-10" dirty="0" smtClean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0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17575" y="1173924"/>
            <a:ext cx="3450590" cy="450850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527050" indent="-514350">
              <a:lnSpc>
                <a:spcPct val="100000"/>
              </a:lnSpc>
              <a:spcBef>
                <a:spcPts val="4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Abstract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Introduction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Literature</a:t>
            </a:r>
            <a:r>
              <a:rPr sz="1800" spc="-10" dirty="0">
                <a:latin typeface="Times New Roman"/>
                <a:cs typeface="Times New Roman"/>
              </a:rPr>
              <a:t> Survey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Research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Gaps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Objectives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Block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Diagram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Flow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Diagram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Methodology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Implementation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Results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Analysis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Conclusion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Future </a:t>
            </a:r>
            <a:r>
              <a:rPr sz="1800" spc="-20" dirty="0">
                <a:latin typeface="Times New Roman"/>
                <a:cs typeface="Times New Roman"/>
              </a:rPr>
              <a:t>Scope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400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References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15"/>
              </a:spcBef>
              <a:buAutoNum type="arabicPeriod"/>
              <a:tabLst>
                <a:tab pos="527050" algn="l"/>
              </a:tabLst>
            </a:pPr>
            <a:r>
              <a:rPr sz="1800" dirty="0">
                <a:latin typeface="Times New Roman"/>
                <a:cs typeface="Times New Roman"/>
              </a:rPr>
              <a:t>Question </a:t>
            </a:r>
            <a:r>
              <a:rPr sz="1800" spc="-20" dirty="0">
                <a:latin typeface="Times New Roman"/>
                <a:cs typeface="Times New Roman"/>
              </a:rPr>
              <a:t>and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Answers</a:t>
            </a:r>
            <a:endParaRPr sz="1800">
              <a:latin typeface="Times New Roman"/>
              <a:cs typeface="Times New Roman"/>
            </a:endParaRPr>
          </a:p>
          <a:p>
            <a:pPr marL="527050" indent="-514350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527050" algn="l"/>
              </a:tabLst>
            </a:pPr>
            <a:r>
              <a:rPr sz="1800" spc="-10" dirty="0">
                <a:latin typeface="Times New Roman"/>
                <a:cs typeface="Times New Roman"/>
              </a:rPr>
              <a:t>Acknowledgements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70332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ABSTRACT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752600" y="6478494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0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mtClean="0"/>
              <a:t>Batch</a:t>
            </a:r>
            <a:r>
              <a:rPr spc="-25" dirty="0" smtClean="0"/>
              <a:t>No</a:t>
            </a:r>
            <a:r>
              <a:rPr lang="en-US" spc="-25" dirty="0" smtClean="0"/>
              <a:t>.DG2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62000" y="1704584"/>
            <a:ext cx="11000644" cy="3094437"/>
          </a:xfrm>
          <a:prstGeom prst="rect">
            <a:avLst/>
          </a:prstGeom>
        </p:spPr>
        <p:txBody>
          <a:bodyPr vert="horz" wrap="square" lIns="0" tIns="16510" rIns="0" bIns="0" rtlCol="0" anchor="ctr">
            <a:spAutoFit/>
          </a:bodyPr>
          <a:lstStyle/>
          <a:p>
            <a:pPr lvl="3"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project focuses on building an adaptive deep learning-based Intrusion Detection System (IDS)  to  handle complex  and  large-scale cyberattacks. The  CICIDS2017 dataset  is used, </a:t>
            </a:r>
          </a:p>
          <a:p>
            <a:pPr lvl="3"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preprocessing is done using  data cleaning, Min–Max normalization,and SMOTE-ENN</a:t>
            </a:r>
          </a:p>
          <a:p>
            <a:pPr lvl="3"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to balance the data. Boruta feature selection is  applied to  choose  only the most important</a:t>
            </a:r>
          </a:p>
          <a:p>
            <a:pPr lvl="3"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features for training the models. Four deep learning models - Autoencoder,GRU,AlexNet,</a:t>
            </a:r>
          </a:p>
          <a:p>
            <a:pPr lvl="3"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and Mini VGGNet  are used, and  the hybrid  approach gives better performance.The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Auto-</a:t>
            </a:r>
          </a:p>
          <a:p>
            <a:pPr lvl="3"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encoder model  achieved the best  results with  99.67%  accuracy,  proving that combining preprocessing, feature selection, and deep learning improves IDS performance</a:t>
            </a:r>
            <a:r>
              <a:rPr lang="en-US" sz="2400" dirty="0" smtClean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212641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8958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133600" y="6368667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63273" y="1524000"/>
            <a:ext cx="10972800" cy="416267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We choose this topic because cyberattacks are increasing every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day,and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many existing systems fail to detect new or rare attacks correctly.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Intrusion Detection Systems (IDS)play an important role in protecting networks,but traditional methods often show low accuracy and high false alarms.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To overcome these problems , our work focuses  on developing an adaptive intrusion detection system that can automatically learn and adjust to new types of attacks.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We  used  a  hybrid deep  learning  approach  that combines  multiple  models - Autoencoder GRU, AlexNet, and MiniVGGNet - along with advanced preprocessing and feature selection methods.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goal of our paper is to  improve detection accuracy , reduce false alarms, and  make the IDS system more reliable and adaptive to real-time network threats.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99865" y="283463"/>
            <a:ext cx="554482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LITERATURE</a:t>
            </a:r>
            <a:r>
              <a:rPr sz="3950" spc="-185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209800" y="6498927"/>
            <a:ext cx="737235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</a:p>
          <a:p>
            <a:pPr marL="12700">
              <a:lnSpc>
                <a:spcPts val="1410"/>
              </a:lnSpc>
            </a:pP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8378877"/>
              </p:ext>
            </p:extLst>
          </p:nvPr>
        </p:nvGraphicFramePr>
        <p:xfrm>
          <a:off x="381000" y="1052194"/>
          <a:ext cx="11429999" cy="5331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245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05276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71074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7650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99307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66570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00199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700406"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5" dirty="0">
                          <a:latin typeface="Calibri"/>
                          <a:cs typeface="Calibri"/>
                        </a:rPr>
                        <a:t>No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Title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Author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657225" marR="147955" indent="-49466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Journal</a:t>
                      </a:r>
                      <a:r>
                        <a:rPr sz="1550" b="1" spc="1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dirty="0">
                          <a:latin typeface="Calibri"/>
                          <a:cs typeface="Calibri"/>
                        </a:rPr>
                        <a:t>Name</a:t>
                      </a:r>
                      <a:r>
                        <a:rPr sz="1550" b="1" spc="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550" b="1" spc="-20" dirty="0">
                          <a:latin typeface="Calibri"/>
                          <a:cs typeface="Calibri"/>
                        </a:rPr>
                        <a:t>Year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588010" marR="367030" indent="-208915">
                        <a:lnSpc>
                          <a:spcPct val="104900"/>
                        </a:lnSpc>
                        <a:spcBef>
                          <a:spcPts val="229"/>
                        </a:spcBef>
                      </a:pPr>
                      <a:r>
                        <a:rPr sz="1550" b="1" spc="-10" dirty="0">
                          <a:latin typeface="Calibri"/>
                          <a:cs typeface="Calibri"/>
                        </a:rPr>
                        <a:t>Methodology Adapted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25463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dirty="0">
                          <a:latin typeface="Calibri"/>
                          <a:cs typeface="Calibri"/>
                        </a:rPr>
                        <a:t>Key</a:t>
                      </a:r>
                      <a:r>
                        <a:rPr sz="1550" b="1" spc="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50" b="1" spc="-10" dirty="0">
                          <a:latin typeface="Calibri"/>
                          <a:cs typeface="Calibri"/>
                        </a:rPr>
                        <a:t>Findings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b="1" spc="-20" dirty="0">
                          <a:latin typeface="Calibri"/>
                          <a:cs typeface="Calibri"/>
                        </a:rPr>
                        <a:t>Gaps</a:t>
                      </a:r>
                      <a:endParaRPr sz="1550" dirty="0">
                        <a:latin typeface="Calibri"/>
                        <a:cs typeface="Calibri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7624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Intrusion Detection of Imbalanced Network Traffic Based on Machine Learning and Deep Learning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Lan Liu, Pengcheng Wang, Jun Lin, Langzhou </a:t>
                      </a:r>
                      <a:r>
                        <a:rPr lang="en-IN" sz="1100" dirty="0" smtClean="0">
                          <a:latin typeface="Times New Roman" pitchFamily="18" charset="0"/>
                          <a:cs typeface="Times New Roman" pitchFamily="18" charset="0"/>
                        </a:rPr>
                        <a:t>Liu, 2020,IEEE</a:t>
                      </a:r>
                      <a:endParaRPr lang="en-IN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sng" strike="noStrike" dirty="0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itchFamily="18" charset="0"/>
                        </a:rPr>
                        <a:t>https://ieeexplore.ieee.org/document/10555151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Proposed </a:t>
                      </a:r>
                      <a:r>
                        <a:rPr lang="en-IN" sz="1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Difficult Set Sampling Technique (DSSTE)</a:t>
                      </a:r>
                      <a:r>
                        <a:rPr lang="en-IN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 with </a:t>
                      </a:r>
                      <a:r>
                        <a:rPr lang="en-IN" sz="1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Edited Nearest Neighbor (ENN)</a:t>
                      </a:r>
                      <a:r>
                        <a:rPr lang="en-IN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en-IN" sz="1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KMeans</a:t>
                      </a:r>
                      <a:r>
                        <a:rPr lang="en-IN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; used </a:t>
                      </a:r>
                      <a:r>
                        <a:rPr lang="en-IN" sz="1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RF, SVM, XGBoost, LSTM, AlexNet, MiniVGGNet</a:t>
                      </a: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DSSTE reduces imbalance, improves learning, and outperforms 24 other methods on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NSL-KDD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CSE-CIC-IDS2018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 datasets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Hard to ensure both accuracy and timeliness; malicious traffic can hide in large normal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35591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Balanced Multi-Class Network Intrusion Detection Using Machine Learning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100" dirty="0">
                          <a:latin typeface="Times New Roman" pitchFamily="18" charset="0"/>
                          <a:cs typeface="Times New Roman" pitchFamily="18" charset="0"/>
                        </a:rPr>
                        <a:t>Faraz Ahmad Khan et </a:t>
                      </a:r>
                      <a:r>
                        <a:rPr lang="da-DK" sz="1100" dirty="0" smtClean="0">
                          <a:latin typeface="Times New Roman" pitchFamily="18" charset="0"/>
                          <a:cs typeface="Times New Roman" pitchFamily="18" charset="0"/>
                        </a:rPr>
                        <a:t>al,2024,IEEE</a:t>
                      </a:r>
                      <a:endParaRPr lang="da-DK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sng" strike="noStrike" dirty="0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itchFamily="18" charset="0"/>
                        </a:rPr>
                        <a:t>https://ieeexplore.ieee.org/document/8995813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itchFamily="18" charset="0"/>
                          <a:cs typeface="Times New Roman" pitchFamily="18" charset="0"/>
                        </a:rPr>
                        <a:t>Used </a:t>
                      </a:r>
                      <a:r>
                        <a:rPr lang="en-IN" sz="1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SMOTE- Tomek </a:t>
                      </a:r>
                      <a:r>
                        <a:rPr lang="en-IN" sz="1000" b="1" dirty="0">
                          <a:latin typeface="Times New Roman" pitchFamily="18" charset="0"/>
                          <a:cs typeface="Times New Roman" pitchFamily="18" charset="0"/>
                        </a:rPr>
                        <a:t>Links</a:t>
                      </a:r>
                      <a:r>
                        <a:rPr lang="en-IN" sz="1000" dirty="0">
                          <a:latin typeface="Times New Roman" pitchFamily="18" charset="0"/>
                          <a:cs typeface="Times New Roman" pitchFamily="18" charset="0"/>
                        </a:rPr>
                        <a:t> for balancing CICIDS2017 data; trained models like </a:t>
                      </a:r>
                      <a:r>
                        <a:rPr lang="en-IN" sz="1000" b="1" dirty="0">
                          <a:latin typeface="Times New Roman" pitchFamily="18" charset="0"/>
                          <a:cs typeface="Times New Roman" pitchFamily="18" charset="0"/>
                        </a:rPr>
                        <a:t>DT, RF, XGBoost, NB, LR, AdaBoost</a:t>
                      </a:r>
                      <a:endParaRPr lang="en-IN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Achieved 96.37% accuracy and 96.33% F1-score; 99.96% accuracy for binary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Signature-based tools still fail for new attacks; algorithms need higher accuracy and lower false alarms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494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Intrusion Detection Systems Using Long Short-Term Memory (LSTM)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100" dirty="0">
                          <a:latin typeface="Times New Roman" pitchFamily="18" charset="0"/>
                          <a:cs typeface="Times New Roman" pitchFamily="18" charset="0"/>
                        </a:rPr>
                        <a:t>Fatima Ezzahra Laghrissi et </a:t>
                      </a:r>
                      <a:r>
                        <a:rPr lang="it-IT" sz="1100" dirty="0" smtClean="0">
                          <a:latin typeface="Times New Roman" pitchFamily="18" charset="0"/>
                          <a:cs typeface="Times New Roman" pitchFamily="18" charset="0"/>
                        </a:rPr>
                        <a:t>al,2021,</a:t>
                      </a:r>
                      <a:r>
                        <a:rPr lang="it-IT" sz="1100" baseline="0" dirty="0" smtClean="0">
                          <a:latin typeface="Times New Roman" pitchFamily="18" charset="0"/>
                          <a:cs typeface="Times New Roman" pitchFamily="18" charset="0"/>
                        </a:rPr>
                        <a:t> Springer</a:t>
                      </a:r>
                      <a:endParaRPr lang="it-IT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sng" strike="noStrike" dirty="0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itchFamily="18" charset="0"/>
                        </a:rPr>
                        <a:t>https://ieeexplore.ieee.org/document/9961235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Implemented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LSTM with PCA and Mutual Information (MI)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 for feature selection; tested on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KDD99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 dataset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Deep learning with PCA gives high accuracy for binary and multiclass detection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Dataset is outdated (KDD99) and unsuitable for real-time large-scale data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944232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An Improved Algorithm for Network Intrusion Detection Based on Deep Residual Networks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Xuntao Hu et </a:t>
                      </a:r>
                      <a:r>
                        <a:rPr lang="en-IN" sz="1100" dirty="0" smtClean="0">
                          <a:latin typeface="Times New Roman" pitchFamily="18" charset="0"/>
                          <a:cs typeface="Times New Roman" pitchFamily="18" charset="0"/>
                        </a:rPr>
                        <a:t>al,2024,IEEE</a:t>
                      </a:r>
                      <a:endParaRPr lang="en-IN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sng" strike="noStrike" dirty="0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itchFamily="18" charset="0"/>
                        </a:rPr>
                        <a:t>https://ieeexplore.ieee.org/document/8995813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Added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Hybrid Attention Mechanism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 to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Deep Residual Networks (DRN)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 and </a:t>
                      </a:r>
                      <a:r>
                        <a:rPr lang="en-US" sz="1000" b="1" dirty="0">
                          <a:latin typeface="Times New Roman" pitchFamily="18" charset="0"/>
                          <a:cs typeface="Times New Roman" pitchFamily="18" charset="0"/>
                        </a:rPr>
                        <a:t>Bi-LSTM</a:t>
                      </a:r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; tested on UNSW-NB15, CICIDS2017/2018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Achieved 100% binary accuracy, 99.06% multiclass; strong 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Needs improved accuracy and generalization for complex attacks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8067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0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sz="140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Times New Roman" pitchFamily="18" charset="0"/>
                          <a:cs typeface="Times New Roman" pitchFamily="18" charset="0"/>
                        </a:rPr>
                        <a:t>An Attention-Based Convolutional Neural Network for Intrusion Detection Model</a:t>
                      </a:r>
                      <a:endParaRPr lang="en-US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dirty="0">
                          <a:latin typeface="Times New Roman" pitchFamily="18" charset="0"/>
                          <a:cs typeface="Times New Roman" pitchFamily="18" charset="0"/>
                        </a:rPr>
                        <a:t>Prerna Tyagi, Pratibha et </a:t>
                      </a:r>
                      <a:r>
                        <a:rPr lang="en-IN" sz="1100" dirty="0" smtClean="0">
                          <a:latin typeface="Times New Roman" pitchFamily="18" charset="0"/>
                          <a:cs typeface="Times New Roman" pitchFamily="18" charset="0"/>
                        </a:rPr>
                        <a:t>al,2022,IEEE</a:t>
                      </a:r>
                      <a:endParaRPr lang="en-IN" sz="11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sng" strike="noStrike" dirty="0" smtClean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cs typeface="Times New Roman" pitchFamily="18" charset="0"/>
                        </a:rPr>
                        <a:t>https://ieeexplore.ieee.org/document/9714367</a:t>
                      </a:r>
                      <a:endParaRPr lang="en-US" sz="1100" b="0" i="0" u="sng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Used </a:t>
                      </a:r>
                      <a:r>
                        <a:rPr lang="en-US" sz="1000" b="1" dirty="0" smtClean="0">
                          <a:latin typeface="Times New Roman" pitchFamily="18" charset="0"/>
                          <a:cs typeface="Times New Roman" pitchFamily="18" charset="0"/>
                        </a:rPr>
                        <a:t>Transformer models</a:t>
                      </a:r>
                      <a:r>
                        <a:rPr lang="en-US" sz="1000" dirty="0" smtClean="0">
                          <a:latin typeface="Times New Roman" pitchFamily="18" charset="0"/>
                          <a:cs typeface="Times New Roman" pitchFamily="18" charset="0"/>
                        </a:rPr>
                        <a:t> (BERT, RoBERTa, XLNet, ALBERT) with text preprocessing</a:t>
                      </a:r>
                      <a:endParaRPr lang="en-US" sz="1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RoBERTa achieved highest accuracy; better than traditional ML methods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itchFamily="18" charset="0"/>
                          <a:cs typeface="Times New Roman" pitchFamily="18" charset="0"/>
                        </a:rPr>
                        <a:t>Limited testing on multilingual, real-time data; lacks model explainability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856230">
              <a:lnSpc>
                <a:spcPct val="100000"/>
              </a:lnSpc>
              <a:spcBef>
                <a:spcPts val="130"/>
              </a:spcBef>
            </a:pPr>
            <a:r>
              <a:rPr dirty="0"/>
              <a:t>RESEARCH</a:t>
            </a:r>
            <a:r>
              <a:rPr spc="-140" dirty="0"/>
              <a:t> </a:t>
            </a:r>
            <a:r>
              <a:rPr spc="-20" dirty="0"/>
              <a:t>GAPS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905000" y="6465823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EBA1FF14-77B6-4437-2943-B8E1C027E2DD}"/>
              </a:ext>
            </a:extLst>
          </p:cNvPr>
          <p:cNvSpPr txBox="1"/>
          <p:nvPr/>
        </p:nvSpPr>
        <p:spPr>
          <a:xfrm>
            <a:off x="687386" y="1188070"/>
            <a:ext cx="10817225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Imbalanced Datasets: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Most existing intrusion detection systems (IDS) face data imbalance, where normal traffic dominates attack data. This leads to poor detection of minority or rare attack types.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High False Alarm Rate: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Many traditional and machine learning-based IDS generate too many false positives, </a:t>
            </a:r>
          </a:p>
          <a:p>
            <a:pPr algn="l"/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reducing system reliability.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Lack of Feature Optimization: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Several works ignored proper feature selection or extraction, which results in redundant data and longer training time.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Limited Adaptability: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Models trained on specific datasets like NSL-KDD or CICIDS2017 often fail to adapt to new or evolving attacks in real-time environments.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Insufficient Hybrid Techniques: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Many studies used only one deep learning model, instead of combining multiple models that could enhance both feature learning and classification accuracy</a:t>
            </a:r>
            <a:r>
              <a:rPr lang="en-US" sz="2200" dirty="0" smtClean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457200"/>
            <a:ext cx="10101072" cy="677108"/>
          </a:xfrm>
        </p:spPr>
        <p:txBody>
          <a:bodyPr/>
          <a:lstStyle/>
          <a:p>
            <a:r>
              <a:rPr lang="en-IN" dirty="0"/>
              <a:t>PROBLEM</a:t>
            </a:r>
            <a:r>
              <a:rPr lang="en-IN" spc="-170" dirty="0"/>
              <a:t> </a:t>
            </a:r>
            <a:r>
              <a:rPr lang="en-IN" spc="-50" dirty="0"/>
              <a:t>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541358" y="1018763"/>
            <a:ext cx="5303520" cy="5501506"/>
          </a:xfrm>
        </p:spPr>
        <p:txBody>
          <a:bodyPr/>
          <a:lstStyle/>
          <a:p>
            <a:pPr marL="139700" indent="0" algn="ctr">
              <a:buFont typeface="Arial" charset="0"/>
              <a:buNone/>
              <a:defRPr/>
            </a:pPr>
            <a:r>
              <a:rPr lang="en-US" sz="2200" b="1" u="sng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Detecting Unbalanced Network Traffic Intrusions with Deep Learning (</a:t>
            </a:r>
            <a:r>
              <a:rPr lang="en-IN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Reference Base Paper)</a:t>
            </a:r>
          </a:p>
          <a:p>
            <a:pPr marL="139700" indent="0">
              <a:buFont typeface="Arial" charset="0"/>
              <a:buNone/>
              <a:defRPr/>
            </a:pPr>
            <a:r>
              <a:rPr lang="en-US" sz="2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Problems </a:t>
            </a:r>
            <a:r>
              <a:rPr lang="en-US" sz="22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Identified: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Suffered from imbalanced network data, causing biased model results.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Contained </a:t>
            </a:r>
            <a:r>
              <a:rPr lang="en-US" sz="2200" dirty="0">
                <a:latin typeface="Times New Roman" pitchFamily="18" charset="0"/>
                <a:cs typeface="Times New Roman" pitchFamily="18" charset="0"/>
                <a:sym typeface="Arial" charset="0"/>
              </a:rPr>
              <a:t>irrelevant and redundant features that lowered accuracy.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Arial" charset="0"/>
              </a:rPr>
              <a:t>Deep learning models were not optimized for spatial or temporal attack patterns.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Arial" charset="0"/>
              </a:rPr>
              <a:t>Could detect only known attacks, failing to identify zero-day or new threats.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dirty="0">
                <a:latin typeface="Times New Roman" pitchFamily="18" charset="0"/>
                <a:cs typeface="Times New Roman" pitchFamily="18" charset="0"/>
                <a:sym typeface="Arial" charset="0"/>
              </a:rPr>
              <a:t>No hybrid feature selection or preprocessing methods were used to enhance performance.</a:t>
            </a:r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133932" y="1037401"/>
            <a:ext cx="5303520" cy="5416868"/>
          </a:xfrm>
        </p:spPr>
        <p:txBody>
          <a:bodyPr/>
          <a:lstStyle/>
          <a:p>
            <a:pPr marL="139700" indent="0" algn="ctr">
              <a:buFont typeface="Arial" charset="0"/>
              <a:buNone/>
              <a:defRPr/>
            </a:pPr>
            <a:r>
              <a:rPr lang="en-US" sz="22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Adaptive Intrusion Detection Using Hybrid Deep Learning Models and Feature Selection(</a:t>
            </a:r>
            <a:r>
              <a:rPr lang="en-IN" sz="22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Proposed  Base Paper)</a:t>
            </a:r>
          </a:p>
          <a:p>
            <a:pPr marL="139700" indent="0">
              <a:buFont typeface="Arial" charset="0"/>
              <a:buNone/>
              <a:defRPr/>
            </a:pPr>
            <a:r>
              <a:rPr lang="en-IN" sz="2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Problems Solved: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Used SMOTE-ENN to balance the dataset and improve model learning.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Applied Boruta algorithm for selecting significant features and removing noise.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Integrated multiple deep models (Autoencoder, GRU, AlexNet,</a:t>
            </a:r>
          </a:p>
          <a:p>
            <a:pPr algn="l">
              <a:defRPr/>
            </a:pPr>
            <a:r>
              <a:rPr lang="en-IN" sz="2200" dirty="0">
                <a:latin typeface="Times New Roman" pitchFamily="18" charset="0"/>
                <a:cs typeface="Times New Roman" pitchFamily="18" charset="0"/>
                <a:sym typeface="Arial" charset="0"/>
              </a:rPr>
              <a:t> </a:t>
            </a:r>
            <a:r>
              <a:rPr lang="en-IN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     MiniVGGNet) for hybrid detection.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Achieved high detection accuracy (99.67%) with lower false positives.</a:t>
            </a:r>
          </a:p>
          <a:p>
            <a:pPr marL="342900" indent="-342900" algn="l">
              <a:buFont typeface="Arial" pitchFamily="34" charset="0"/>
              <a:buChar char="•"/>
              <a:defRPr/>
            </a:pPr>
            <a:r>
              <a:rPr lang="en-IN" sz="22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Enhanced capability to detect new and complex network attacks efficiently</a:t>
            </a:r>
            <a:r>
              <a:rPr lang="en-IN" sz="2200" dirty="0" smtClean="0">
                <a:sym typeface="Arial" charset="0"/>
              </a:rPr>
              <a:t>.</a:t>
            </a:r>
          </a:p>
          <a:p>
            <a:endParaRPr lang="en-IN" sz="2200" dirty="0"/>
          </a:p>
        </p:txBody>
      </p:sp>
      <p:sp>
        <p:nvSpPr>
          <p:cNvPr id="5" name="Rectangle 4"/>
          <p:cNvSpPr/>
          <p:nvPr/>
        </p:nvSpPr>
        <p:spPr>
          <a:xfrm>
            <a:off x="4953000" y="6520269"/>
            <a:ext cx="1744091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99322" y="6474102"/>
            <a:ext cx="11009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BatchNo.DG2</a:t>
            </a:r>
            <a:r>
              <a:rPr lang="en-US" sz="1200" spc="-55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91400" y="6479232"/>
            <a:ext cx="1394292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10" dirty="0" smtClean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lang="en-IN" sz="1200" spc="5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57400" y="6533779"/>
            <a:ext cx="4376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0" dirty="0" smtClean="0">
                <a:latin typeface="Times New Roman" pitchFamily="18" charset="0"/>
                <a:cs typeface="Times New Roman" pitchFamily="18" charset="0"/>
              </a:rPr>
              <a:t>date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201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454400">
              <a:lnSpc>
                <a:spcPct val="100000"/>
              </a:lnSpc>
              <a:spcBef>
                <a:spcPts val="130"/>
              </a:spcBef>
            </a:pPr>
            <a:r>
              <a:rPr lang="en-US"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981200" y="6534634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2271" y="1371600"/>
            <a:ext cx="10887456" cy="3793346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To design an adaptive Intrusion Detection System (IDS) using hybrid deep learning models.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To handle class imbalance effectively using the SMOTE-ENN technique.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To improve model performance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byapplying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the Boruta algorithm for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feature selection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To develop and compare multiple deep learning models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- Autoencoder,GRU,Alexnet</a:t>
            </a:r>
          </a:p>
          <a:p>
            <a:pPr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    and </a:t>
            </a: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MiniVGGNet.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To achieve high detection accuracy and reduce false positives in identifying network attacks.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400" dirty="0">
                <a:latin typeface="Times New Roman" pitchFamily="18" charset="0"/>
                <a:cs typeface="Times New Roman" pitchFamily="18" charset="0"/>
                <a:sym typeface="Arial" charset="0"/>
              </a:rPr>
              <a:t>To build a system that can detect both known and unknown (zero-day) attacks efficiently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720" rIns="0" bIns="0" rtlCol="0">
            <a:spAutoFit/>
          </a:bodyPr>
          <a:lstStyle/>
          <a:p>
            <a:pPr marL="360045">
              <a:lnSpc>
                <a:spcPct val="100000"/>
              </a:lnSpc>
              <a:spcBef>
                <a:spcPts val="130"/>
              </a:spcBef>
            </a:pPr>
            <a:r>
              <a:rPr sz="3950" dirty="0"/>
              <a:t>BLOCK</a:t>
            </a:r>
            <a:r>
              <a:rPr sz="3950" spc="60" dirty="0"/>
              <a:t> </a:t>
            </a:r>
            <a:r>
              <a:rPr sz="3950" dirty="0"/>
              <a:t>DIAGRAM</a:t>
            </a:r>
            <a:r>
              <a:rPr sz="3950" spc="90" dirty="0"/>
              <a:t> </a:t>
            </a:r>
            <a:r>
              <a:rPr sz="3950" dirty="0"/>
              <a:t>OR</a:t>
            </a:r>
            <a:r>
              <a:rPr sz="3950" spc="70" dirty="0"/>
              <a:t> </a:t>
            </a:r>
            <a:r>
              <a:rPr sz="3950" dirty="0"/>
              <a:t>FLOW</a:t>
            </a:r>
            <a:r>
              <a:rPr sz="3950" spc="-60" dirty="0"/>
              <a:t> </a:t>
            </a:r>
            <a:r>
              <a:rPr sz="3950" spc="-10" dirty="0"/>
              <a:t>DIAGRAM</a:t>
            </a:r>
            <a:endParaRPr sz="395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752600" y="6465823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9" name="Rectangle 8"/>
          <p:cNvSpPr/>
          <p:nvPr/>
        </p:nvSpPr>
        <p:spPr>
          <a:xfrm>
            <a:off x="605500" y="127347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39700" indent="0" algn="ctr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u="sng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architecture of the proposed hybrid intrusion detection system</a:t>
            </a:r>
            <a:endParaRPr lang="en-IN" altLang="en-US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858000" y="1704633"/>
            <a:ext cx="47244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Data Preprocessing: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CICIDS2017 dataset is first cleaned and preprocessed using SMOTE-ENN for data balancing (over- and under-sampling) and Boruta for selecting only the most important features.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Model Training: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processed data is then used to train four deep learning models — Autoencoder, GRU, AlexNet, and Mini-VGGNet — to learn and classify normal and attack traffic patterns.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Model Evaluation and Implementation: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models are evaluated using accuracy, F1-score, precision, and recall, and the best-performing model is selected for implementation in the intrusion detection system.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500" y="2133600"/>
            <a:ext cx="4572000" cy="3653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91020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524000" y="644396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1242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93550" y="1569282"/>
            <a:ext cx="5558822" cy="1538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vert="horz" wrap="square" lIns="0" tIns="60960" rIns="0" bIns="0" rtlCol="0">
            <a:spAutoFit/>
          </a:bodyPr>
          <a:lstStyle/>
          <a:p>
            <a:pPr marL="139700" indent="0">
              <a:buFont typeface="Arial" charset="0"/>
              <a:buNone/>
              <a:defRPr/>
            </a:pPr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1.Dataset Selection:</a:t>
            </a:r>
            <a:endParaRPr lang="en-US" sz="16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Arial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Utilized CICIDS2017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dataset containing real-world normal and attack traffic.</a:t>
            </a:r>
          </a:p>
          <a:p>
            <a:pPr marL="139700">
              <a:defRPr/>
            </a:pPr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 Data Preprocessing:</a:t>
            </a:r>
            <a:endParaRPr lang="en-US" sz="16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Arial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Performed data cleaning and Min–Max normalization.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Encoded categorical values and removed irrelevant fields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4A33F00D-AAA0-57F3-BA12-2785A73740FF}"/>
              </a:ext>
            </a:extLst>
          </p:cNvPr>
          <p:cNvSpPr txBox="1"/>
          <p:nvPr/>
        </p:nvSpPr>
        <p:spPr>
          <a:xfrm>
            <a:off x="410849" y="3658396"/>
            <a:ext cx="5324224" cy="181588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39700" indent="0">
              <a:buFont typeface="Arial" charset="0"/>
              <a:buNone/>
              <a:defRPr/>
            </a:pPr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2.Class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Imbalance Handling: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Arial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Arial" charset="0"/>
              </a:rPr>
              <a:t>Used SMOTE-ENN to balance minority and majority classes by oversampling and noise removal.</a:t>
            </a:r>
          </a:p>
          <a:p>
            <a:pPr marL="139700"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Feature Selection: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Arial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Arial" charset="0"/>
              </a:rPr>
              <a:t>Implemented Boruta algorithm to identify and retain only the most significant features.</a:t>
            </a:r>
          </a:p>
          <a:p>
            <a:pPr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2D01180A-D05D-39E1-D4D1-69596B4D267D}"/>
              </a:ext>
            </a:extLst>
          </p:cNvPr>
          <p:cNvSpPr txBox="1"/>
          <p:nvPr/>
        </p:nvSpPr>
        <p:spPr>
          <a:xfrm>
            <a:off x="5827410" y="1473529"/>
            <a:ext cx="6096000" cy="24006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139700" indent="0">
              <a:buFont typeface="Arial" charset="0"/>
              <a:buNone/>
              <a:defRPr/>
            </a:pPr>
            <a:r>
              <a:rPr lang="en-US" sz="15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3.Model </a:t>
            </a:r>
            <a:r>
              <a:rPr lang="en-US" sz="15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Development:</a:t>
            </a:r>
            <a:endParaRPr lang="en-US" sz="15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Arial" charset="0"/>
            </a:endParaRPr>
          </a:p>
          <a:p>
            <a:r>
              <a:rPr lang="en-US" sz="1500" dirty="0">
                <a:latin typeface="Times New Roman" pitchFamily="18" charset="0"/>
                <a:cs typeface="Times New Roman" pitchFamily="18" charset="0"/>
                <a:sym typeface="Arial" charset="0"/>
              </a:rPr>
              <a:t>Built and trained </a:t>
            </a:r>
            <a:r>
              <a:rPr lang="en-US" sz="1500" b="1" dirty="0">
                <a:latin typeface="Times New Roman" pitchFamily="18" charset="0"/>
                <a:cs typeface="Times New Roman" pitchFamily="18" charset="0"/>
                <a:sym typeface="Arial" charset="0"/>
              </a:rPr>
              <a:t>four deep learning </a:t>
            </a:r>
            <a:r>
              <a:rPr lang="en-US" sz="1500" b="1" dirty="0" smtClean="0">
                <a:latin typeface="Times New Roman" pitchFamily="18" charset="0"/>
                <a:cs typeface="Times New Roman" pitchFamily="18" charset="0"/>
                <a:sym typeface="Arial" charset="0"/>
              </a:rPr>
              <a:t>models: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Autoencoder: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showed strong detection ability by identifying abnormal data accurately using reconstruction errors.</a:t>
            </a:r>
            <a:br>
              <a:rPr lang="en-US" sz="15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GRU: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 model performed well in handling time-based data, learning sequential patterns effectively.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500" b="1" dirty="0" smtClean="0">
                <a:latin typeface="Times New Roman" pitchFamily="18" charset="0"/>
                <a:cs typeface="Times New Roman" pitchFamily="18" charset="0"/>
              </a:rPr>
              <a:t>AlexNet and MiniVGGNet</a:t>
            </a:r>
            <a:r>
              <a:rPr lang="en-US" sz="1500" dirty="0" smtClean="0">
                <a:latin typeface="Times New Roman" pitchFamily="18" charset="0"/>
                <a:cs typeface="Times New Roman" pitchFamily="18" charset="0"/>
              </a:rPr>
              <a:t>: which are CNN-based models, also gave good results in spatial feature extraction, helping to detect various attack types.</a:t>
            </a:r>
          </a:p>
          <a:p>
            <a:pPr marL="285750" indent="-285750">
              <a:buFont typeface="Arial" pitchFamily="34" charset="0"/>
              <a:buChar char="•"/>
              <a:defRPr/>
            </a:pPr>
            <a:endParaRPr lang="en-US" sz="1500" dirty="0">
              <a:latin typeface="Times New Roman" pitchFamily="18" charset="0"/>
              <a:cs typeface="Times New Roman" pitchFamily="18" charset="0"/>
              <a:sym typeface="Arial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D36067A-211A-11AF-64EA-3BFD09D615C6}"/>
              </a:ext>
            </a:extLst>
          </p:cNvPr>
          <p:cNvSpPr txBox="1"/>
          <p:nvPr/>
        </p:nvSpPr>
        <p:spPr>
          <a:xfrm>
            <a:off x="5827410" y="3658396"/>
            <a:ext cx="6096000" cy="132343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Arial" charset="0"/>
              </a:rPr>
              <a:t>Integrated them into a hybrid IDS framework for improved accuracy and efficiency.</a:t>
            </a:r>
          </a:p>
          <a:p>
            <a:pPr>
              <a:defRPr/>
            </a:pPr>
            <a:r>
              <a:rPr lang="en-US" sz="1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4.Evaluation </a:t>
            </a: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sym typeface="Arial" charset="0"/>
              </a:rPr>
              <a:t>Metrics:</a:t>
            </a:r>
            <a:endParaRPr lang="en-US" sz="16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  <a:sym typeface="Arial" charset="0"/>
            </a:endParaRPr>
          </a:p>
          <a:p>
            <a:pPr marL="285750" indent="-285750">
              <a:buFont typeface="Arial" pitchFamily="34" charset="0"/>
              <a:buChar char="•"/>
              <a:defRPr/>
            </a:pPr>
            <a:r>
              <a:rPr lang="en-US" sz="1600" dirty="0">
                <a:latin typeface="Times New Roman" pitchFamily="18" charset="0"/>
                <a:cs typeface="Times New Roman" pitchFamily="18" charset="0"/>
                <a:sym typeface="Arial" charset="0"/>
              </a:rPr>
              <a:t>Accuracy, Precision, Recall, and F1-Score were used to evaluate model performance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="" xmlns:a16="http://schemas.microsoft.com/office/drawing/2014/main" id="{6B45F21B-2D69-9375-E98D-04CAC3284604}"/>
              </a:ext>
            </a:extLst>
          </p:cNvPr>
          <p:cNvCxnSpPr/>
          <p:nvPr/>
        </p:nvCxnSpPr>
        <p:spPr>
          <a:xfrm>
            <a:off x="0" y="12954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8E019613-1AF1-C736-4D1A-CE05B2C4A661}"/>
              </a:ext>
            </a:extLst>
          </p:cNvPr>
          <p:cNvCxnSpPr/>
          <p:nvPr/>
        </p:nvCxnSpPr>
        <p:spPr>
          <a:xfrm>
            <a:off x="53673" y="5334000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8E7F38E0-C5B2-80FC-E13A-ACDD458F03DB}"/>
              </a:ext>
            </a:extLst>
          </p:cNvPr>
          <p:cNvCxnSpPr/>
          <p:nvPr/>
        </p:nvCxnSpPr>
        <p:spPr>
          <a:xfrm>
            <a:off x="53673" y="3658396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94F96337-EEAB-1FC2-91CF-8BB223A15321}"/>
              </a:ext>
            </a:extLst>
          </p:cNvPr>
          <p:cNvCxnSpPr/>
          <p:nvPr/>
        </p:nvCxnSpPr>
        <p:spPr>
          <a:xfrm>
            <a:off x="5735073" y="1295400"/>
            <a:ext cx="0" cy="4038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178313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595880">
              <a:lnSpc>
                <a:spcPct val="100000"/>
              </a:lnSpc>
              <a:spcBef>
                <a:spcPts val="130"/>
              </a:spcBef>
            </a:pPr>
            <a:r>
              <a:rPr spc="-45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600200" y="6438668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96341" y="6458436"/>
            <a:ext cx="102951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mtClean="0"/>
              <a:t>Batch</a:t>
            </a:r>
            <a:r>
              <a:rPr spc="-25" dirty="0" smtClean="0"/>
              <a:t>No.</a:t>
            </a:r>
            <a:r>
              <a:rPr lang="en-US" spc="-25" dirty="0" smtClean="0"/>
              <a:t>DG2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335746"/>
            <a:ext cx="4965272" cy="4401205"/>
          </a:xfrm>
          <a:prstGeom prst="rect">
            <a:avLst/>
          </a:prstGeom>
        </p:spPr>
        <p:txBody>
          <a:bodyPr vert="horz" wrap="square" lIns="0" tIns="60960" rIns="0" bIns="0" numCol="1" rtlCol="0">
            <a:sp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model was developed and trained on Google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using Python and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Keras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frameworks.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CICIDS2017 dataset was used for training and testing after preprocessing (cleaning, normalization, balancing).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Four deep learning models — Autoencoder, GRU, AlexNet, and MiniVGGNet — were trained and evaluated.</a:t>
            </a:r>
          </a:p>
          <a:p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The best-performing model (Autoencoder) was saved and used for final intrusion detection </a:t>
            </a:r>
            <a:r>
              <a:rPr lang="en-US" sz="1600" dirty="0" smtClean="0"/>
              <a:t>implementation.</a:t>
            </a:r>
          </a:p>
          <a:p>
            <a:endParaRPr lang="en-US" sz="1600" dirty="0" smtClean="0"/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Software Specifications</a:t>
            </a:r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Operating System: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Google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Colab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(Linux)</a:t>
            </a: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Frameworks &amp; Libraries: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TensorFlow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Keras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-learn, Pandas,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sz="1600" dirty="0" err="1" smtClean="0">
                <a:latin typeface="Times New Roman" pitchFamily="18" charset="0"/>
                <a:cs typeface="Times New Roman" pitchFamily="18" charset="0"/>
              </a:rPr>
              <a:t>Matplotlib</a:t>
            </a:r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Tools Used: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Google Drive for dataset storage and result saving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6963CE67-B665-C062-4108-58FF9275814B}"/>
              </a:ext>
            </a:extLst>
          </p:cNvPr>
          <p:cNvSpPr txBox="1"/>
          <p:nvPr/>
        </p:nvSpPr>
        <p:spPr>
          <a:xfrm>
            <a:off x="5396341" y="1524000"/>
            <a:ext cx="60944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Hardware Specifications:</a:t>
            </a: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GPU: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NVIDIA Tesla T4 / A100 (16 GB VRAM)</a:t>
            </a: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RAM: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25 GB</a:t>
            </a:r>
          </a:p>
          <a:p>
            <a:r>
              <a:rPr lang="en-IN" sz="1600" b="1" dirty="0" smtClean="0">
                <a:latin typeface="Times New Roman" pitchFamily="18" charset="0"/>
                <a:cs typeface="Times New Roman" pitchFamily="18" charset="0"/>
              </a:rPr>
              <a:t>Storage:</a:t>
            </a:r>
            <a:r>
              <a:rPr lang="en-IN" sz="1600" dirty="0" smtClean="0">
                <a:latin typeface="Times New Roman" pitchFamily="18" charset="0"/>
                <a:cs typeface="Times New Roman" pitchFamily="18" charset="0"/>
              </a:rPr>
              <a:t> 100 GB (Google Drive cloud storage)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Solutions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-- </a:t>
            </a:r>
            <a:r>
              <a:rPr lang="en-US" sz="1600" dirty="0" smtClean="0"/>
              <a:t>Used SMOTE-ENN for balancing normal and attack data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 during training – Applied dropout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andearly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stopping techniques</a:t>
            </a:r>
          </a:p>
          <a:p>
            <a:pPr algn="just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redundancy – used </a:t>
            </a:r>
            <a:r>
              <a:rPr lang="en-US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boruta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feature  selection  to keep  only relevant data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598518A-6977-167A-8D98-00A49CC0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16EE7055-B76C-EE6F-08CC-92E7EE7300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444C7190-8F23-7E3D-3258-59ECE8BB40B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371600" y="6501298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C8EE467A-0007-6248-D5FC-035475F9AB5C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3C5C05E2-116E-9B2A-A763-5B1B6F1C498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4AEB3C56-44F1-46F5-D60B-34645CDE98C2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C4811474-3062-D6CB-ED56-6304320ACB4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C7EAB21-4A9D-B3CA-C9C2-D3395F590F56}"/>
              </a:ext>
            </a:extLst>
          </p:cNvPr>
          <p:cNvSpPr txBox="1"/>
          <p:nvPr/>
        </p:nvSpPr>
        <p:spPr>
          <a:xfrm>
            <a:off x="5188203" y="2170331"/>
            <a:ext cx="675458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graph shows the training loss of our model over multiple epochs.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We can see that the loss value keeps decreasing as the training progresses, which means the model is learning correctly and reducing errors.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lower training loss indicates that the model is predicting more accurately on the training data and not making large mistakes.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shows our deep learning models especially GRU and Autoencoder are well-trained and stable.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:lc="http://schemas.openxmlformats.org/drawingml/2006/lockedCanvas" xmlns="" id="{2DF7F3CA-FE84-F1FB-9033-9C10040DE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286000"/>
            <a:ext cx="457860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0877" y="15240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139700" indent="0" algn="ctr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Training Loss Comparison of Autoencoder, GRU, AlexNet, and VGGNet models</a:t>
            </a:r>
            <a:endParaRPr lang="en-IN" altLang="en-US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408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18AA8B5-5708-1908-3D8E-F0505A4FE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C624A6AC-6C10-48CC-2A58-802B367512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23139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</a:t>
            </a:r>
            <a:r>
              <a:rPr spc="75" dirty="0"/>
              <a:t>E</a:t>
            </a:r>
            <a:r>
              <a:rPr spc="-30" dirty="0"/>
              <a:t>S</a:t>
            </a:r>
            <a:r>
              <a:rPr spc="60" dirty="0"/>
              <a:t>U</a:t>
            </a:r>
            <a:r>
              <a:rPr spc="-445" dirty="0"/>
              <a:t>L</a:t>
            </a:r>
            <a:r>
              <a:rPr spc="5" dirty="0"/>
              <a:t>T</a:t>
            </a:r>
            <a:r>
              <a:rPr spc="35" dirty="0"/>
              <a:t>S</a:t>
            </a:r>
            <a:r>
              <a:rPr spc="-215" dirty="0"/>
              <a:t> </a:t>
            </a:r>
            <a:r>
              <a:rPr dirty="0"/>
              <a:t>&amp;</a:t>
            </a:r>
            <a:r>
              <a:rPr spc="-285" dirty="0"/>
              <a:t> </a:t>
            </a:r>
            <a:r>
              <a:rPr spc="-25" dirty="0"/>
              <a:t>ANALYSIS</a:t>
            </a:r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2683954A-E5F9-8B9A-8F2D-500C6138B6A9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447800" y="6478494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758A26F6-EF40-9F15-7D60-F895C2F4E399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AEEB42D2-F56D-A85B-E99C-92ABC0D1460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 smtClean="0"/>
              <a:t>Batch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4FFF3092-4AEB-E9C7-FCDD-C16BD67788D8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CC9F7399-A653-4273-405B-70F10B58C40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D353E7C0-3DC0-FDBE-E73B-151A342D6005}"/>
              </a:ext>
            </a:extLst>
          </p:cNvPr>
          <p:cNvSpPr txBox="1"/>
          <p:nvPr/>
        </p:nvSpPr>
        <p:spPr>
          <a:xfrm>
            <a:off x="5119127" y="2133600"/>
            <a:ext cx="6781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This graph shows the validation accuracy, which measures how well our model performs on new, unseen data.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accuracy increases steadily and becomes stable, meaning the model is generalizing well and not overfitting.</a:t>
            </a:r>
            <a:br>
              <a:rPr lang="en-US" sz="22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It proves that our hybrid model maintains high performance on both training and testing data, which is important for real-time intrusion detection.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:lc="http://schemas.openxmlformats.org/drawingml/2006/lockedCanvas" xmlns="" id="{F5B48A42-23A8-7F24-3E06-BED1B3CC05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133600"/>
            <a:ext cx="4336976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232360" y="1626482"/>
            <a:ext cx="50834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39700" indent="0" algn="ctr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Accuracy Comparison across Models</a:t>
            </a:r>
            <a:endParaRPr lang="en-IN" altLang="en-US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698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101072" cy="677108"/>
          </a:xfrm>
        </p:spPr>
        <p:txBody>
          <a:bodyPr/>
          <a:lstStyle/>
          <a:p>
            <a:r>
              <a:rPr lang="en-IN" spc="-10" dirty="0" smtClean="0"/>
              <a:t>                 R</a:t>
            </a:r>
            <a:r>
              <a:rPr lang="en-IN" spc="75" dirty="0" smtClean="0"/>
              <a:t>E</a:t>
            </a:r>
            <a:r>
              <a:rPr lang="en-IN" spc="-30" dirty="0" smtClean="0"/>
              <a:t>S</a:t>
            </a:r>
            <a:r>
              <a:rPr lang="en-IN" spc="60" dirty="0" smtClean="0"/>
              <a:t>U</a:t>
            </a:r>
            <a:r>
              <a:rPr lang="en-IN" spc="-445" dirty="0" smtClean="0"/>
              <a:t>L</a:t>
            </a:r>
            <a:r>
              <a:rPr lang="en-IN" spc="5" dirty="0" smtClean="0"/>
              <a:t>T</a:t>
            </a:r>
            <a:r>
              <a:rPr lang="en-IN" spc="35" dirty="0" smtClean="0"/>
              <a:t>S</a:t>
            </a:r>
            <a:r>
              <a:rPr lang="en-IN" spc="-215" dirty="0" smtClean="0"/>
              <a:t> </a:t>
            </a:r>
            <a:r>
              <a:rPr lang="en-IN" dirty="0"/>
              <a:t>&amp;</a:t>
            </a:r>
            <a:r>
              <a:rPr lang="en-IN" spc="-285" dirty="0"/>
              <a:t> </a:t>
            </a:r>
            <a:r>
              <a:rPr lang="en-IN" spc="-25" dirty="0"/>
              <a:t>ANALYSIS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922" y="2286000"/>
            <a:ext cx="5867400" cy="3530536"/>
          </a:xfrm>
        </p:spPr>
      </p:pic>
      <p:sp>
        <p:nvSpPr>
          <p:cNvPr id="4" name="Content Placeholder 3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5162952"/>
          </a:xfrm>
        </p:spPr>
        <p:txBody>
          <a:bodyPr/>
          <a:lstStyle/>
          <a:p>
            <a:r>
              <a:rPr lang="en-US" sz="2200" dirty="0"/>
              <a:t>This table shows the numerical comparison of each model’s performance.</a:t>
            </a:r>
            <a:br>
              <a:rPr lang="en-US" sz="2200" dirty="0"/>
            </a:br>
            <a:r>
              <a:rPr lang="en-US" sz="2200" dirty="0"/>
              <a:t>You can see the Accuracy, Precision, Recall, and F1-score values for every model listed here.</a:t>
            </a:r>
          </a:p>
          <a:p>
            <a:r>
              <a:rPr lang="en-US" sz="2200" dirty="0" smtClean="0"/>
              <a:t>These </a:t>
            </a:r>
            <a:r>
              <a:rPr lang="en-US" sz="2200" dirty="0"/>
              <a:t>models performed better because GRU efficiently learns time-based patterns, and Autoencoder detects abnormal data through reconstruction errors.</a:t>
            </a:r>
          </a:p>
          <a:p>
            <a:r>
              <a:rPr lang="en-US" sz="2200" dirty="0"/>
              <a:t>Overall, the table confirms that our proposed models outperform the base paper models (XGBoost and LSTM) in all evaluation metrics, proving that our method gives more accurate and reliable intrusion detection.</a:t>
            </a:r>
          </a:p>
          <a:p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796447" y="1613356"/>
            <a:ext cx="4191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>
                <a:latin typeface="Times New Roman" pitchFamily="18" charset="0"/>
                <a:cs typeface="Times New Roman" pitchFamily="18" charset="0"/>
              </a:rPr>
              <a:t>Comparison Table</a:t>
            </a:r>
            <a:endParaRPr lang="en-IN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24000" y="6476847"/>
            <a:ext cx="450444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z="1200" spc="-10" dirty="0" smtClean="0">
                <a:latin typeface="Times New Roman" pitchFamily="18" charset="0"/>
                <a:cs typeface="Times New Roman" pitchFamily="18" charset="0"/>
              </a:rPr>
              <a:t>date</a:t>
            </a:r>
            <a:endParaRPr lang="en-US" sz="1200" spc="-2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86330" y="6437099"/>
            <a:ext cx="919804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57800" y="6431969"/>
            <a:ext cx="108395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Batch</a:t>
            </a:r>
            <a:r>
              <a:rPr lang="en-US" sz="1200" spc="-25" dirty="0" smtClean="0">
                <a:latin typeface="Times New Roman" pitchFamily="18" charset="0"/>
                <a:cs typeface="Times New Roman" pitchFamily="18" charset="0"/>
              </a:rPr>
              <a:t>No.DG2</a:t>
            </a:r>
            <a:endParaRPr lang="en-IN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05600" y="6476848"/>
            <a:ext cx="1394292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10" dirty="0" smtClean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lang="en-IN" sz="1200" spc="5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0579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533400"/>
            <a:ext cx="10101072" cy="677108"/>
          </a:xfrm>
        </p:spPr>
        <p:txBody>
          <a:bodyPr/>
          <a:lstStyle/>
          <a:p>
            <a:r>
              <a:rPr lang="en-US" dirty="0" smtClean="0"/>
              <a:t>        WEBSITE </a:t>
            </a:r>
            <a:r>
              <a:rPr lang="en-US" sz="2500" dirty="0" smtClean="0"/>
              <a:t> </a:t>
            </a:r>
            <a:r>
              <a:rPr lang="en-US" dirty="0" smtClean="0"/>
              <a:t>PAGES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5303838" cy="4419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676400"/>
            <a:ext cx="5303837" cy="4422125"/>
          </a:xfrm>
        </p:spPr>
      </p:pic>
      <p:sp>
        <p:nvSpPr>
          <p:cNvPr id="3" name="Rectangle 2"/>
          <p:cNvSpPr/>
          <p:nvPr/>
        </p:nvSpPr>
        <p:spPr>
          <a:xfrm>
            <a:off x="2209800" y="6400800"/>
            <a:ext cx="4376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0" dirty="0" smtClean="0">
                <a:latin typeface="Times New Roman" pitchFamily="18" charset="0"/>
                <a:cs typeface="Times New Roman" pitchFamily="18" charset="0"/>
              </a:rPr>
              <a:t>date</a:t>
            </a:r>
            <a:endParaRPr lang="en-IN" sz="1200" dirty="0"/>
          </a:p>
        </p:txBody>
      </p:sp>
      <p:sp>
        <p:nvSpPr>
          <p:cNvPr id="4" name="Rectangle 3"/>
          <p:cNvSpPr/>
          <p:nvPr/>
        </p:nvSpPr>
        <p:spPr>
          <a:xfrm>
            <a:off x="3810000" y="6405930"/>
            <a:ext cx="919804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76800" y="6400800"/>
            <a:ext cx="10502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Batch</a:t>
            </a:r>
            <a:r>
              <a:rPr lang="en-US" sz="1200" spc="-25" dirty="0" smtClean="0">
                <a:latin typeface="Times New Roman" pitchFamily="18" charset="0"/>
                <a:cs typeface="Times New Roman" pitchFamily="18" charset="0"/>
              </a:rPr>
              <a:t>No.DG2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6248400" y="6420220"/>
            <a:ext cx="1394292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10" dirty="0" smtClean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lang="en-IN" sz="1200" spc="5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0668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533400"/>
            <a:ext cx="10101072" cy="67710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WEBSITE </a:t>
            </a:r>
            <a:r>
              <a:rPr lang="en-US" sz="2500" dirty="0" smtClean="0"/>
              <a:t> </a:t>
            </a:r>
            <a:r>
              <a:rPr lang="en-US" dirty="0"/>
              <a:t>PAGES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5303838" cy="44196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600200"/>
            <a:ext cx="5303837" cy="4419600"/>
          </a:xfrm>
        </p:spPr>
      </p:pic>
      <p:sp>
        <p:nvSpPr>
          <p:cNvPr id="3" name="Rectangle 2"/>
          <p:cNvSpPr/>
          <p:nvPr/>
        </p:nvSpPr>
        <p:spPr>
          <a:xfrm>
            <a:off x="2286000" y="6324600"/>
            <a:ext cx="4376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0" dirty="0" smtClean="0">
                <a:latin typeface="Times New Roman" pitchFamily="18" charset="0"/>
                <a:cs typeface="Times New Roman" pitchFamily="18" charset="0"/>
              </a:rPr>
              <a:t>date</a:t>
            </a:r>
            <a:endParaRPr lang="en-IN" sz="1200" dirty="0"/>
          </a:p>
        </p:txBody>
      </p:sp>
      <p:sp>
        <p:nvSpPr>
          <p:cNvPr id="4" name="Rectangle 3"/>
          <p:cNvSpPr/>
          <p:nvPr/>
        </p:nvSpPr>
        <p:spPr>
          <a:xfrm>
            <a:off x="3581400" y="6370766"/>
            <a:ext cx="919804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00600" y="6370766"/>
            <a:ext cx="10502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Batch</a:t>
            </a:r>
            <a:r>
              <a:rPr lang="en-US" sz="1200" spc="-25" dirty="0" smtClean="0">
                <a:latin typeface="Times New Roman" pitchFamily="18" charset="0"/>
                <a:cs typeface="Times New Roman" pitchFamily="18" charset="0"/>
              </a:rPr>
              <a:t>No.DG2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6248400" y="6324600"/>
            <a:ext cx="1394292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10" dirty="0" smtClean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lang="en-IN" sz="1200" spc="5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36500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609600"/>
            <a:ext cx="10101072" cy="677108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               WEBSITE </a:t>
            </a:r>
            <a:r>
              <a:rPr lang="en-US" sz="2500" dirty="0" smtClean="0"/>
              <a:t> </a:t>
            </a:r>
            <a:r>
              <a:rPr lang="en-US" dirty="0"/>
              <a:t>PAGES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5303838" cy="4487449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563" y="1600200"/>
            <a:ext cx="5303837" cy="4495800"/>
          </a:xfrm>
        </p:spPr>
      </p:pic>
      <p:sp>
        <p:nvSpPr>
          <p:cNvPr id="3" name="Rectangle 2"/>
          <p:cNvSpPr/>
          <p:nvPr/>
        </p:nvSpPr>
        <p:spPr>
          <a:xfrm>
            <a:off x="2743200" y="6248400"/>
            <a:ext cx="4376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spc="-10" dirty="0" smtClean="0">
                <a:latin typeface="Times New Roman" pitchFamily="18" charset="0"/>
                <a:cs typeface="Times New Roman" pitchFamily="18" charset="0"/>
              </a:rPr>
              <a:t>date</a:t>
            </a:r>
            <a:endParaRPr lang="en-IN" sz="1200" dirty="0"/>
          </a:p>
        </p:txBody>
      </p:sp>
      <p:sp>
        <p:nvSpPr>
          <p:cNvPr id="4" name="Rectangle 3"/>
          <p:cNvSpPr/>
          <p:nvPr/>
        </p:nvSpPr>
        <p:spPr>
          <a:xfrm>
            <a:off x="4038600" y="6314072"/>
            <a:ext cx="919804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6311506"/>
            <a:ext cx="10502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Batch</a:t>
            </a:r>
            <a:r>
              <a:rPr lang="en-US" sz="1200" spc="-25" dirty="0" smtClean="0">
                <a:latin typeface="Times New Roman" pitchFamily="18" charset="0"/>
                <a:cs typeface="Times New Roman" pitchFamily="18" charset="0"/>
              </a:rPr>
              <a:t>No.DG2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6318834" y="6314072"/>
            <a:ext cx="1394292" cy="2718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spc="-10" dirty="0" smtClean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lang="en-IN" sz="1200" spc="-3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dirty="0" smtClean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lang="en-IN" sz="1200" spc="50" dirty="0" smtClean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lang="en-IN" sz="1200" spc="-25" dirty="0" smtClean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lang="en-IN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460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381000"/>
            <a:ext cx="10101072" cy="1619673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 algn="ctr">
              <a:lnSpc>
                <a:spcPct val="100000"/>
              </a:lnSpc>
              <a:spcBef>
                <a:spcPts val="130"/>
              </a:spcBef>
            </a:pPr>
            <a:r>
              <a:rPr lang="en-US" dirty="0" smtClean="0"/>
              <a:t/>
            </a:r>
            <a:br>
              <a:rPr lang="en-US" dirty="0" smtClean="0"/>
            </a:br>
            <a:r>
              <a:rPr dirty="0" smtClean="0"/>
              <a:t>CONCLUSION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2362200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410200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52400" y="2362200"/>
            <a:ext cx="11442700" cy="268535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algn="l"/>
            <a:r>
              <a:rPr lang="en-US" sz="2400" dirty="0" smtClean="0"/>
              <a:t>   Our </a:t>
            </a:r>
            <a:r>
              <a:rPr lang="en-US" sz="2400" dirty="0"/>
              <a:t>adaptive hybrid intrusion detection system improves network security by combining </a:t>
            </a:r>
            <a:r>
              <a:rPr lang="en-US" sz="2400" dirty="0" smtClean="0"/>
              <a:t>                             intelligent  preprocessing </a:t>
            </a:r>
            <a:r>
              <a:rPr lang="en-US" sz="2400" dirty="0"/>
              <a:t>with deep </a:t>
            </a:r>
            <a:r>
              <a:rPr lang="en-US" sz="2400" dirty="0" smtClean="0"/>
              <a:t> learning</a:t>
            </a:r>
            <a:r>
              <a:rPr lang="en-US" sz="2400" dirty="0"/>
              <a:t>. SMOTE-ENN </a:t>
            </a:r>
            <a:r>
              <a:rPr lang="en-US" sz="2400" dirty="0" smtClean="0"/>
              <a:t> balanced  the  dataset ,  and</a:t>
            </a:r>
          </a:p>
          <a:p>
            <a:pPr algn="l"/>
            <a:r>
              <a:rPr lang="en-US" sz="2400" dirty="0" smtClean="0"/>
              <a:t> </a:t>
            </a:r>
            <a:r>
              <a:rPr lang="en-US" sz="2400" dirty="0"/>
              <a:t>Boruta </a:t>
            </a:r>
            <a:r>
              <a:rPr lang="en-US" sz="2400" dirty="0" smtClean="0"/>
              <a:t>selected t he most  </a:t>
            </a:r>
            <a:r>
              <a:rPr lang="en-US" sz="2400" dirty="0"/>
              <a:t>important </a:t>
            </a:r>
            <a:r>
              <a:rPr lang="en-US" sz="2400" dirty="0" smtClean="0"/>
              <a:t> features,  </a:t>
            </a:r>
            <a:r>
              <a:rPr lang="en-US" sz="2400" dirty="0"/>
              <a:t>leading </a:t>
            </a:r>
            <a:r>
              <a:rPr lang="en-US" sz="2400" dirty="0" smtClean="0"/>
              <a:t> to  more efficient  </a:t>
            </a:r>
            <a:r>
              <a:rPr lang="en-US" sz="2400" dirty="0"/>
              <a:t>training. Using Autoencoder, </a:t>
            </a:r>
            <a:r>
              <a:rPr lang="en-US" sz="2400" dirty="0" smtClean="0"/>
              <a:t> GRU</a:t>
            </a:r>
            <a:r>
              <a:rPr lang="en-US" sz="2400" dirty="0"/>
              <a:t>, </a:t>
            </a:r>
            <a:r>
              <a:rPr lang="en-US" sz="2400" dirty="0" smtClean="0"/>
              <a:t> AlexNet</a:t>
            </a:r>
            <a:r>
              <a:rPr lang="en-US" sz="2400" dirty="0"/>
              <a:t>, </a:t>
            </a:r>
            <a:r>
              <a:rPr lang="en-US" sz="2400" dirty="0" smtClean="0"/>
              <a:t>and  </a:t>
            </a:r>
            <a:r>
              <a:rPr lang="en-US" sz="2400" dirty="0"/>
              <a:t>MiniVGGNet </a:t>
            </a:r>
            <a:r>
              <a:rPr lang="en-US" sz="2400" dirty="0" smtClean="0"/>
              <a:t>together  </a:t>
            </a:r>
            <a:r>
              <a:rPr lang="en-US" sz="2400" dirty="0"/>
              <a:t>enabled </a:t>
            </a:r>
            <a:r>
              <a:rPr lang="en-US" sz="2400" dirty="0" smtClean="0"/>
              <a:t> strong detection  of</a:t>
            </a:r>
          </a:p>
          <a:p>
            <a:pPr algn="l"/>
            <a:r>
              <a:rPr lang="en-US" sz="2400" dirty="0" smtClean="0"/>
              <a:t>various </a:t>
            </a:r>
            <a:r>
              <a:rPr lang="en-US" sz="2400" dirty="0"/>
              <a:t>attacks</a:t>
            </a:r>
            <a:r>
              <a:rPr lang="en-US" sz="2400" dirty="0" smtClean="0"/>
              <a:t>,  including  </a:t>
            </a:r>
            <a:r>
              <a:rPr lang="en-US" sz="2400" dirty="0"/>
              <a:t>unknown </a:t>
            </a:r>
            <a:r>
              <a:rPr lang="en-US" sz="2400" dirty="0" smtClean="0"/>
              <a:t>and  </a:t>
            </a:r>
            <a:r>
              <a:rPr lang="en-US" sz="2400" dirty="0"/>
              <a:t>zero-day attacks. The model achieved </a:t>
            </a:r>
            <a:r>
              <a:rPr lang="en-US" sz="2400" dirty="0" smtClean="0"/>
              <a:t> 99.67</a:t>
            </a:r>
            <a:r>
              <a:rPr lang="en-US" sz="2400" dirty="0"/>
              <a:t>% accuracy, </a:t>
            </a:r>
            <a:r>
              <a:rPr lang="en-US" sz="2400" dirty="0" smtClean="0"/>
              <a:t> proving </a:t>
            </a:r>
            <a:r>
              <a:rPr lang="en-US" sz="2400" dirty="0"/>
              <a:t>that </a:t>
            </a:r>
            <a:r>
              <a:rPr lang="en-US" sz="2400" dirty="0" smtClean="0"/>
              <a:t> balanced   data</a:t>
            </a:r>
            <a:r>
              <a:rPr lang="en-US" sz="2400" dirty="0"/>
              <a:t>, </a:t>
            </a:r>
            <a:r>
              <a:rPr lang="en-US" sz="2400" dirty="0" smtClean="0"/>
              <a:t>optimized  </a:t>
            </a:r>
            <a:r>
              <a:rPr lang="en-US" sz="2400" dirty="0"/>
              <a:t>features, </a:t>
            </a:r>
            <a:r>
              <a:rPr lang="en-US" sz="2400" dirty="0" smtClean="0"/>
              <a:t> and  </a:t>
            </a:r>
            <a:r>
              <a:rPr lang="en-US" sz="2400" dirty="0"/>
              <a:t>hybrid </a:t>
            </a:r>
            <a:r>
              <a:rPr lang="en-US" sz="2400" dirty="0" smtClean="0"/>
              <a:t>  deep </a:t>
            </a:r>
            <a:r>
              <a:rPr lang="en-US" sz="2400" dirty="0"/>
              <a:t>learning significantly enhance IDS performance.</a:t>
            </a:r>
            <a:endParaRPr lang="en-US" sz="2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81E958-1FB5-C67D-3A0D-71F5AB0A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="" xmlns:a16="http://schemas.microsoft.com/office/drawing/2014/main" id="{78D1E68D-3320-3727-3535-F47D882BAD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5463" y="283463"/>
            <a:ext cx="10101072" cy="94256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588010" algn="ctr">
              <a:lnSpc>
                <a:spcPct val="100000"/>
              </a:lnSpc>
              <a:spcBef>
                <a:spcPts val="130"/>
              </a:spcBef>
            </a:pPr>
            <a:r>
              <a:rPr dirty="0" smtClean="0"/>
              <a:t>FUTURE</a:t>
            </a:r>
            <a:r>
              <a:rPr spc="-120" dirty="0" smtClean="0"/>
              <a:t> </a:t>
            </a:r>
            <a:r>
              <a:rPr spc="-10" dirty="0" smtClean="0"/>
              <a:t>SCOPE</a:t>
            </a:r>
            <a:r>
              <a:rPr lang="en-US" spc="-10" dirty="0" smtClean="0"/>
              <a:t> </a:t>
            </a: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="" xmlns:a16="http://schemas.microsoft.com/office/drawing/2014/main" id="{4638BAA7-54FE-0D23-750B-04BDE2B9B6AA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905000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>
            <a:extLst>
              <a:ext uri="{FF2B5EF4-FFF2-40B4-BE49-F238E27FC236}">
                <a16:creationId xmlns="" xmlns:a16="http://schemas.microsoft.com/office/drawing/2014/main" id="{99C969EE-18B4-FDFB-77B1-86537DC11181}"/>
              </a:ext>
            </a:extLst>
          </p:cNvPr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="" xmlns:a16="http://schemas.microsoft.com/office/drawing/2014/main" id="{DB1D9124-5557-814F-9781-2B3B4B620D9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103779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>
            <a:extLst>
              <a:ext uri="{FF2B5EF4-FFF2-40B4-BE49-F238E27FC236}">
                <a16:creationId xmlns="" xmlns:a16="http://schemas.microsoft.com/office/drawing/2014/main" id="{D4251870-D769-0DC1-BD51-2D54309E3CB3}"/>
              </a:ext>
            </a:extLst>
          </p:cNvPr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="" xmlns:a16="http://schemas.microsoft.com/office/drawing/2014/main" id="{5EF62112-9259-EB53-EC00-592C7122167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CB7DEA59-4D87-62DD-A416-6314800CA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33400" y="1483468"/>
            <a:ext cx="11442700" cy="2239074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endParaRPr lang="en-US" sz="2200" b="1" dirty="0" smtClean="0"/>
          </a:p>
          <a:p>
            <a:r>
              <a:rPr lang="en-US" sz="2200" b="1" dirty="0" smtClean="0"/>
              <a:t>Future Developments:</a:t>
            </a:r>
            <a:endParaRPr lang="en-US" sz="2200" b="1" dirty="0"/>
          </a:p>
          <a:p>
            <a:r>
              <a:rPr lang="en-US" sz="2400" dirty="0"/>
              <a:t>In the future, this system can be extended for real-time intrusion detection and automatic model updates for new attack patterns. It can also be optimized for </a:t>
            </a:r>
            <a:r>
              <a:rPr lang="en-US" sz="2400" dirty="0" err="1"/>
              <a:t>IoT</a:t>
            </a:r>
            <a:r>
              <a:rPr lang="en-US" sz="2400" dirty="0"/>
              <a:t>, cloud environments, and enhanced with explainable AI for better transparency. </a:t>
            </a:r>
            <a:endParaRPr lang="en-US" sz="2400" dirty="0" smtClean="0"/>
          </a:p>
          <a:p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666757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334581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524000" y="6478494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8956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 smtClean="0"/>
              <a:t>Batch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CD3FFB41-DB31-108C-69EA-EB9CCFA5F0DD}"/>
              </a:ext>
            </a:extLst>
          </p:cNvPr>
          <p:cNvSpPr txBox="1"/>
          <p:nvPr/>
        </p:nvSpPr>
        <p:spPr>
          <a:xfrm>
            <a:off x="409458" y="1447800"/>
            <a:ext cx="11734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S. Aljawarneh, M. Aldwairi, and M. Yassein, ―Anomaly-based intrusion detection system through feature selection analysis and building hybrid efficient model,‖ Journal of Computer Science, vol. 25, pp. 152–160, 2018.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N. Shone, T. N. Ngoc, V. D. Phai, and Q. Shi, ―A deep learning approach to network intrusion detection,‖ IEEE Transactions on Emerging Topics in Computational Intelligence, vol. 2, no. 1, pp. 41–50, 2018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N. V. Chawla, K. W. Bowyer, L. O. Hall, and W. P. Kegelmeyer, ―SMOTE: Synthetic minority over-sampling technique,‖ Journal of Artificial Intelligence Research, vol. 16, pp. 321–357, 2002.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M. B. Kursa and W. R. Rudnicki, ―Feature selection with the Boruta package,‖ Journal of Statistical Software, vol. 36, no. 11, pp. 1–13, 2010.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 K. S. Babu and Y. N. Rao, ―MCGAN: Modified Conditional Generative Adversarial Network for class imbalance problems in network intrusion detection system,‖ Applied Sciences, vol. 13, no. 4, p. 2576, 2023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000" dirty="0" smtClean="0">
                <a:latin typeface="Times New Roman" pitchFamily="18" charset="0"/>
                <a:cs typeface="Times New Roman" pitchFamily="18" charset="0"/>
              </a:rPr>
              <a:t>I. Sharafaldin, A. Habibi Lashkari, and A. Ghorbani, ―Toward generating a new intrusion detection dataset and intrusion traffic characterization,‖ Proceedings of ICISSP, 2018.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5464" y="457200"/>
            <a:ext cx="10101072" cy="1200005"/>
          </a:xfrm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1635125">
              <a:lnSpc>
                <a:spcPct val="100000"/>
              </a:lnSpc>
              <a:spcBef>
                <a:spcPts val="130"/>
              </a:spcBef>
            </a:pPr>
            <a:r>
              <a:rPr dirty="0"/>
              <a:t>QUESTIONS</a:t>
            </a:r>
            <a:r>
              <a:rPr spc="-150" dirty="0"/>
              <a:t> </a:t>
            </a:r>
            <a:r>
              <a:rPr spc="-20" dirty="0"/>
              <a:t>and</a:t>
            </a:r>
            <a:r>
              <a:rPr spc="-265" dirty="0"/>
              <a:t> </a:t>
            </a:r>
            <a:r>
              <a:rPr spc="-10" dirty="0"/>
              <a:t>ANSWERS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600200" y="6465823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505148" y="6451049"/>
            <a:ext cx="97185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dirty="0"/>
              <a:t>Batch</a:t>
            </a:r>
            <a:r>
              <a:rPr lang="en-US" spc="-55" dirty="0"/>
              <a:t> </a:t>
            </a:r>
            <a:r>
              <a:rPr lang="en-US" spc="-25" dirty="0" smtClean="0"/>
              <a:t>No.DG2</a:t>
            </a:r>
            <a:endParaRPr lang="en-US"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40874" y="2514600"/>
            <a:ext cx="10512425" cy="1740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r>
              <a:rPr lang="en-US" sz="2800" b="1" dirty="0" smtClean="0"/>
              <a:t>                   Thank You for Your Attention!</a:t>
            </a:r>
          </a:p>
          <a:p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We’re open to your questions and suggestions.</a:t>
            </a:r>
            <a:br>
              <a:rPr lang="en-US" sz="2800" dirty="0" smtClean="0"/>
            </a:br>
            <a:r>
              <a:rPr lang="en-US" sz="2800" dirty="0" smtClean="0"/>
              <a:t>                                                     — Presented by </a:t>
            </a:r>
            <a:r>
              <a:rPr lang="en-US" sz="2800" i="1" dirty="0" smtClean="0"/>
              <a:t>Team DB2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889" rIns="0" bIns="0" rtlCol="0">
            <a:spAutoFit/>
          </a:bodyPr>
          <a:lstStyle/>
          <a:p>
            <a:pPr marL="213360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ACKNOWLEGEMENTS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xfrm>
            <a:off x="1600200" y="6451049"/>
            <a:ext cx="73723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pc="-10" dirty="0" smtClean="0"/>
              <a:t>date</a:t>
            </a:r>
            <a:endParaRPr spc="-20" dirty="0"/>
          </a:p>
        </p:txBody>
      </p:sp>
      <p:sp>
        <p:nvSpPr>
          <p:cNvPr id="5" name="object 5"/>
          <p:cNvSpPr txBox="1"/>
          <p:nvPr/>
        </p:nvSpPr>
        <p:spPr>
          <a:xfrm>
            <a:off x="4429378" y="6451049"/>
            <a:ext cx="758825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Review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No.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0" y="6451049"/>
            <a:ext cx="9587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dirty="0" smtClean="0"/>
              <a:t>Batch</a:t>
            </a:r>
            <a:r>
              <a:rPr spc="-25" dirty="0" smtClean="0"/>
              <a:t>No.</a:t>
            </a:r>
            <a:r>
              <a:rPr lang="en-US" spc="-25" dirty="0" smtClean="0"/>
              <a:t>DG2</a:t>
            </a:r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6542944" y="6451049"/>
            <a:ext cx="122301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10" dirty="0">
                <a:solidFill>
                  <a:srgbClr val="888888"/>
                </a:solidFill>
                <a:latin typeface="Times New Roman"/>
                <a:cs typeface="Times New Roman"/>
              </a:rPr>
              <a:t>Department</a:t>
            </a:r>
            <a:r>
              <a:rPr sz="1200" spc="-3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of</a:t>
            </a:r>
            <a:r>
              <a:rPr sz="1200" spc="50" dirty="0">
                <a:solidFill>
                  <a:srgbClr val="888888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888888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55529" y="1828800"/>
            <a:ext cx="11274425" cy="354712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 would like to express our sincere gratitude to our guide and faculty members for their valuable guidance, constant encouragement, and continuous support throughout this project.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We are also thankful to our institution for providing the facilities and resources that made this work possible.</a:t>
            </a:r>
            <a:br>
              <a:rPr lang="en-US" sz="28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Finally, we thank all our team members of DB2 for their cooperation, teamwork, and dedication in successfully completing this project titled </a:t>
            </a:r>
            <a:r>
              <a:rPr lang="en-US" sz="2800" i="1" dirty="0" smtClean="0">
                <a:latin typeface="Times New Roman" pitchFamily="18" charset="0"/>
                <a:cs typeface="Times New Roman" pitchFamily="18" charset="0"/>
              </a:rPr>
              <a:t>“Adaptive Intrusion Detection Using Hybrid Deep Learning Models.”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381</TotalTime>
  <Words>1972</Words>
  <Application>Microsoft Office PowerPoint</Application>
  <PresentationFormat>Custom</PresentationFormat>
  <Paragraphs>299</Paragraphs>
  <Slides>22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Department of Computer Science and Engineering ADAPTIVE INTRUSION DETECTION USING HYBRID DEEP LEARNING MODELS AND FEATURE SELECTION </vt:lpstr>
      <vt:lpstr>OUTLINE</vt:lpstr>
      <vt:lpstr>ABSTRACT</vt:lpstr>
      <vt:lpstr>INTRODUCTION</vt:lpstr>
      <vt:lpstr>LITERATURE SURVEY</vt:lpstr>
      <vt:lpstr>RESEARCH GAPS</vt:lpstr>
      <vt:lpstr>PROBLEM STATEMENT</vt:lpstr>
      <vt:lpstr>OBJECTIVES</vt:lpstr>
      <vt:lpstr>BLOCK DIAGRAM OR FLOW DIAGRAM</vt:lpstr>
      <vt:lpstr>METHODOLOGY</vt:lpstr>
      <vt:lpstr>IMPLEMENTATION</vt:lpstr>
      <vt:lpstr>RESULTS &amp; ANALYSIS</vt:lpstr>
      <vt:lpstr>RESULTS &amp; ANALYSIS</vt:lpstr>
      <vt:lpstr>                 RESULTS &amp; ANALYSIS</vt:lpstr>
      <vt:lpstr>        WEBSITE  PAGES</vt:lpstr>
      <vt:lpstr>               WEBSITE  PAGES</vt:lpstr>
      <vt:lpstr>                WEBSITE  PAGES</vt:lpstr>
      <vt:lpstr> CONCLUSION</vt:lpstr>
      <vt:lpstr>FUTURE SCOPE </vt:lpstr>
      <vt:lpstr>REFERENCES</vt:lpstr>
      <vt:lpstr>QUESTIONS and ANSWERS</vt:lpstr>
      <vt:lpstr>ACKNOWLEGEMENTS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and Engineering ADAPTIVE INTRUSION DETECTION USING HYBRID DEEP LEARNING MODELS AND FEATURE SELECTION</dc:title>
  <dc:creator>DurgaBhavani Tumma</dc:creator>
  <cp:lastModifiedBy>ismail - [2010]</cp:lastModifiedBy>
  <cp:revision>29</cp:revision>
  <dcterms:created xsi:type="dcterms:W3CDTF">2025-11-01T04:34:19Z</dcterms:created>
  <dcterms:modified xsi:type="dcterms:W3CDTF">2026-02-10T05:43:14Z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2024-12-19T00:00:00Z</vt:filetime>
  </property>
  <property fmtid="{D5CDD505-2E9C-101B-9397-08002B2CF9AE}" pid="3" name="LastSaved">
    <vt:filetime>2025-11-01T00:00:00Z</vt:filetime>
  </property>
</Properties>
</file>