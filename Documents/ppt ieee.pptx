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2" r:id="rId10"/>
    <p:sldId id="270" r:id="rId11"/>
    <p:sldId id="271" r:id="rId12"/>
    <p:sldId id="273" r:id="rId13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03" autoAdjust="0"/>
  </p:normalViewPr>
  <p:slideViewPr>
    <p:cSldViewPr snapToGrid="0">
      <p:cViewPr>
        <p:scale>
          <a:sx n="102" d="100"/>
          <a:sy n="102" d="100"/>
        </p:scale>
        <p:origin x="-456" y="4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309676800 w 120000"/>
              <a:gd name="T3" fmla="*/ 0 h 120000"/>
              <a:gd name="T4" fmla="*/ 3096768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5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0353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5123" name="Google Shape;52;p:notes"/>
          <p:cNvSpPr txBox="1"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marL="0" indent="0" eaLnBrk="1" hangingPunct="1">
              <a:buSzPts val="1100"/>
            </a:pPr>
            <a:endParaRPr lang="en-US" altLang="en-US" sz="110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72;g11dd67e4119_0_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7171" name="Google Shape;73;g11dd67e4119_0_5:notes"/>
          <p:cNvSpPr txBox="1"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marL="0" indent="0" eaLnBrk="1" hangingPunct="1">
              <a:buSzPts val="1100"/>
            </a:pPr>
            <a:endParaRPr lang="en-US" altLang="en-US" sz="1100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A471EB-C464-4764-B930-83E7059E739D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934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7A4480-F76A-49AA-8E31-58CAE696B609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82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106DBD-FD29-4ABC-9216-3F57E3CFEF7A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2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4A7E6C-FA78-45A1-ADBE-F4AFC53AD84E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8268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565663-8A07-4450-BEE0-7128BEBDBC3F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990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02E17E-22D5-4AD4-9D64-A36324F77984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2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6;p9"/>
          <p:cNvSpPr>
            <a:spLocks noChangeArrowheads="1"/>
          </p:cNvSpPr>
          <p:nvPr/>
        </p:nvSpPr>
        <p:spPr bwMode="auto"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" name="Google Shape;40;p9"/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 sz="1000">
                <a:solidFill>
                  <a:srgbClr val="595959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fld id="{A2E1BE74-49AC-412C-B166-53B9AB31F129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746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F4729C-FF8C-42D2-BD6A-BC56367B2C56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45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0F4E40-8A79-4861-8D07-ED3C18103895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144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11150" y="444500"/>
            <a:ext cx="85217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charset="0"/>
            </a:endParaRPr>
          </a:p>
        </p:txBody>
      </p:sp>
      <p:sp>
        <p:nvSpPr>
          <p:cNvPr id="102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charset="0"/>
            </a:endParaRPr>
          </a:p>
        </p:txBody>
      </p:sp>
      <p:sp>
        <p:nvSpPr>
          <p:cNvPr id="102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472488" y="4662488"/>
            <a:ext cx="54927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charset="0"/>
              <a:buNone/>
              <a:defRPr sz="1000">
                <a:solidFill>
                  <a:srgbClr val="595959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fld id="{0D62F279-A260-4AED-BDFF-A9E3C9E541B0}" type="slidenum">
              <a:rPr lang="en-GB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9" r:id="rId7"/>
    <p:sldLayoutId id="2147483716" r:id="rId8"/>
    <p:sldLayoutId id="214748371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1pPr>
      <a:lvl2pPr marL="742950" lvl="1" indent="-28575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2pPr>
      <a:lvl3pPr marL="1143000" lvl="2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3pPr>
      <a:lvl4pPr marL="1600200" lvl="3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4pPr>
      <a:lvl5pPr marL="2057400" lvl="4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»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https://aiccit2023.vercel.app/_next/image?url=/_next/static/media/mrlogo1.084c9a07.png&amp;w=640&amp;q=75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https://aiccit2023.vercel.app/_next/image?url=/_next/static/media/mrlogo1.084c9a07.png&amp;w=640&amp;q=7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Google Shape;55;p1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713" y="1470025"/>
            <a:ext cx="23431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Google Shape;56;p13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433513"/>
            <a:ext cx="2208212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Google Shape;60;p13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444625"/>
            <a:ext cx="2452688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Google Shape;62;p13"/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3646488"/>
            <a:ext cx="2206625" cy="128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Google Shape;63;p13"/>
          <p:cNvSpPr txBox="1">
            <a:spLocks noChangeArrowheads="1"/>
          </p:cNvSpPr>
          <p:nvPr/>
        </p:nvSpPr>
        <p:spPr bwMode="auto">
          <a:xfrm>
            <a:off x="666750" y="115888"/>
            <a:ext cx="717550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>
              <a:buClr>
                <a:srgbClr val="000000"/>
              </a:buClr>
              <a:buFont typeface="Arial" charset="0"/>
              <a:buNone/>
            </a:pPr>
            <a:r>
              <a:rPr lang="en-IN" b="1" dirty="0"/>
              <a:t>ICAICCIT-2025, 3</a:t>
            </a:r>
            <a:r>
              <a:rPr lang="en-IN" b="1" baseline="30000" dirty="0"/>
              <a:t>rd</a:t>
            </a:r>
            <a:r>
              <a:rPr lang="en-IN" b="1" dirty="0"/>
              <a:t> International conference on Advances in Computing, Communication and Information Technology,                                                                technically Co-Sponsored by IEEE Delhi SECTION                                                                (IEEE record no # 68829) </a:t>
            </a:r>
          </a:p>
          <a:p>
            <a:pPr algn="ctr">
              <a:buClr>
                <a:srgbClr val="000000"/>
              </a:buClr>
              <a:buFont typeface="Arial" charset="0"/>
              <a:buNone/>
            </a:pPr>
            <a:r>
              <a:rPr lang="en-IN" b="1" dirty="0"/>
              <a:t>on </a:t>
            </a:r>
            <a:r>
              <a:rPr lang="en-IN" b="1" dirty="0" smtClean="0"/>
              <a:t>1st </a:t>
            </a:r>
            <a:r>
              <a:rPr lang="en-IN" b="1" dirty="0"/>
              <a:t>Nov. 2025</a:t>
            </a:r>
          </a:p>
          <a:p>
            <a:pPr algn="ctr" eaLnBrk="1" hangingPunct="1">
              <a:buClr>
                <a:srgbClr val="000000"/>
              </a:buClr>
              <a:buFont typeface="Arial" charset="0"/>
              <a:buNone/>
            </a:pPr>
            <a:endParaRPr lang="en-US" altLang="en-US" sz="1600" dirty="0"/>
          </a:p>
        </p:txBody>
      </p:sp>
      <p:pic>
        <p:nvPicPr>
          <p:cNvPr id="4103" name="Google Shape;65;p13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3667125"/>
            <a:ext cx="2339975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Google Shape;66;p13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sp>
        <p:nvSpPr>
          <p:cNvPr id="67" name="Google Shape;67;p13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  <p:sp>
        <p:nvSpPr>
          <p:cNvPr id="4106" name="Rectangle 2"/>
          <p:cNvSpPr>
            <a:spLocks noChangeArrowheads="1"/>
          </p:cNvSpPr>
          <p:nvPr/>
        </p:nvSpPr>
        <p:spPr bwMode="auto">
          <a:xfrm>
            <a:off x="0" y="0"/>
            <a:ext cx="914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sp>
        <p:nvSpPr>
          <p:cNvPr id="4107" name="Rectangle 3"/>
          <p:cNvSpPr>
            <a:spLocks noChangeArrowheads="1"/>
          </p:cNvSpPr>
          <p:nvPr/>
        </p:nvSpPr>
        <p:spPr bwMode="auto">
          <a:xfrm>
            <a:off x="0" y="74930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4108" name="Picture 2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1160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9" name="Picture 2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34" t="69373" r="41730" b="23227"/>
          <a:stretch>
            <a:fillRect/>
          </a:stretch>
        </p:blipFill>
        <p:spPr bwMode="auto">
          <a:xfrm>
            <a:off x="287338" y="2544763"/>
            <a:ext cx="1331912" cy="89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0" name="Picture 2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6" t="69836" r="29318" b="23227"/>
          <a:stretch>
            <a:fillRect/>
          </a:stretch>
        </p:blipFill>
        <p:spPr bwMode="auto">
          <a:xfrm>
            <a:off x="1722438" y="2674938"/>
            <a:ext cx="12065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1" name="Picture 2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33" t="70760" r="52966" b="23227"/>
          <a:stretch>
            <a:fillRect/>
          </a:stretch>
        </p:blipFill>
        <p:spPr bwMode="auto">
          <a:xfrm>
            <a:off x="7586663" y="2705100"/>
            <a:ext cx="1557337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2" name="Picture 2" descr="mr_logo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2695575"/>
            <a:ext cx="23844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3" name="Picture 4" descr="https://aiccit2023.vercel.app/images/partners/infosis1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38" y="2767013"/>
            <a:ext cx="1905000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4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25" y="3646488"/>
            <a:ext cx="2581275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5" name="Picture 20" descr="mr_logo"/>
          <p:cNvPicPr>
            <a:picLocks noChangeAspect="1" noChangeArrowheads="1"/>
          </p:cNvPicPr>
          <p:nvPr/>
        </p:nvPicPr>
        <p:blipFill>
          <a:blip r:embed="rId13" r:link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575" y="79375"/>
            <a:ext cx="1871663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sp>
        <p:nvSpPr>
          <p:cNvPr id="76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  <p:cxnSp>
        <p:nvCxnSpPr>
          <p:cNvPr id="6148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49" name="AutoShape 2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sp>
        <p:nvSpPr>
          <p:cNvPr id="6150" name="AutoShape 4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15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TextBox 15"/>
          <p:cNvSpPr txBox="1">
            <a:spLocks noChangeArrowheads="1"/>
          </p:cNvSpPr>
          <p:nvPr/>
        </p:nvSpPr>
        <p:spPr bwMode="auto">
          <a:xfrm>
            <a:off x="1371341" y="914400"/>
            <a:ext cx="7062788" cy="326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charset="0"/>
              <a:buNone/>
            </a:pP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Adaptive Intrusion Detection Using Hybrid Deep Learning Models and Feature Selection</a:t>
            </a:r>
            <a:endParaRPr lang="en-IN" altLang="en-US" sz="1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Clr>
                <a:srgbClr val="000000"/>
              </a:buClr>
              <a:buFont typeface="Arial" charset="0"/>
              <a:buNone/>
            </a:pPr>
            <a:r>
              <a:rPr lang="en-US" alt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Paper ID-398</a:t>
            </a:r>
          </a:p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IN" altLang="en-US" sz="1600" dirty="0"/>
          </a:p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IN" altLang="en-US" sz="1600" dirty="0"/>
          </a:p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IN" altLang="en-US" sz="1600" dirty="0" smtClean="0"/>
          </a:p>
          <a:p>
            <a:pPr algn="r" eaLnBrk="1" hangingPunct="1">
              <a:buClr>
                <a:srgbClr val="000000"/>
              </a:buClr>
              <a:buFont typeface="Arial" charset="0"/>
              <a:buNone/>
            </a:pPr>
            <a:r>
              <a:rPr lang="en-IN" altLang="en-US" sz="1600" b="1" dirty="0" smtClean="0">
                <a:latin typeface="Times New Roman" pitchFamily="18" charset="0"/>
                <a:cs typeface="Times New Roman" pitchFamily="18" charset="0"/>
              </a:rPr>
              <a:t>Presented by                                                                                                         </a:t>
            </a:r>
          </a:p>
          <a:p>
            <a:pPr algn="r" eaLnBrk="1" hangingPunct="1">
              <a:buClr>
                <a:srgbClr val="000000"/>
              </a:buClr>
              <a:buFont typeface="Arial" charset="0"/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T. Durga Bhavani,</a:t>
            </a:r>
          </a:p>
          <a:p>
            <a:pPr algn="r" eaLnBrk="1" hangingPunct="1">
              <a:buClr>
                <a:srgbClr val="000000"/>
              </a:buClr>
              <a:buFont typeface="Arial" charset="0"/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G. Kavya,</a:t>
            </a:r>
          </a:p>
          <a:p>
            <a:pPr algn="r" eaLnBrk="1" hangingPunct="1">
              <a:buClr>
                <a:srgbClr val="000000"/>
              </a:buClr>
              <a:buFont typeface="Arial" charset="0"/>
              <a:buNone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SK.Y.khajabi,</a:t>
            </a:r>
          </a:p>
          <a:p>
            <a:pPr algn="r" eaLnBrk="1" hangingPunct="1">
              <a:buClr>
                <a:srgbClr val="000000"/>
              </a:buClr>
              <a:buFont typeface="Arial" charset="0"/>
              <a:buNone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A.Deepthi Priya</a:t>
            </a:r>
          </a:p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IN" altLang="en-US" sz="1600" dirty="0"/>
          </a:p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IN" altLang="en-US" sz="1600" dirty="0"/>
          </a:p>
        </p:txBody>
      </p:sp>
      <p:pic>
        <p:nvPicPr>
          <p:cNvPr id="6153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Picture 2" descr="mr_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675" y="214313"/>
            <a:ext cx="2130425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5" name="Rectangle 12"/>
          <p:cNvSpPr>
            <a:spLocks noChangeArrowheads="1"/>
          </p:cNvSpPr>
          <p:nvPr/>
        </p:nvSpPr>
        <p:spPr bwMode="auto">
          <a:xfrm>
            <a:off x="460375" y="2921893"/>
            <a:ext cx="3273425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Dr. K. Suresh Babu¹, T. DurgaBhavani²,</a:t>
            </a:r>
          </a:p>
          <a:p>
            <a:pPr eaLnBrk="1" hangingPunct="1">
              <a:buClr>
                <a:srgbClr val="000000"/>
              </a:buClr>
              <a:buFont typeface="Arial" charset="0"/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G. Kavya³, Sk. Y. Khajabi⁴, A. Deepthi Priya⁵,</a:t>
            </a:r>
            <a:r>
              <a:rPr lang="en-IN" dirty="0" smtClean="0"/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R. P. Ram Kumar⁶</a:t>
            </a:r>
            <a:br>
              <a:rPr lang="en-IN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Department of Computer Science and Engineering,</a:t>
            </a:r>
            <a:br>
              <a:rPr lang="en-IN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Narasaraopeta Engineering College, Andhra Pradesh, India</a:t>
            </a:r>
            <a:endParaRPr lang="en-US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56" name="Picture 20" descr="mr_logo"/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2313" y="2583339"/>
            <a:ext cx="21385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>
              <a:buClr>
                <a:srgbClr val="000000"/>
              </a:buClr>
            </a:pP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Authors &amp; Affiliation:</a:t>
            </a:r>
            <a:endParaRPr lang="en-I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ctr">
              <a:buNone/>
            </a:pPr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ctr">
              <a:buFont typeface="Wingdings" pitchFamily="2" charset="2"/>
              <a:buChar char="v"/>
            </a:pPr>
            <a:endParaRPr lang="en-US" sz="1600" b="1" u="sng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Internet is essential for communication, data sharing, and online activities, but it also increases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cybersecurity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risks.</a:t>
            </a:r>
          </a:p>
          <a:p>
            <a:pPr marL="11430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Growing network complexity has led to frequent and advanced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cyberattacks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like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DDoS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botnets.</a:t>
            </a:r>
          </a:p>
          <a:p>
            <a:pPr>
              <a:buFont typeface="Wingdings" pitchFamily="2" charset="2"/>
              <a:buChar char="v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Intrusion Detection Systems (IDS)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help identify abnormal or malicious network behavior.</a:t>
            </a:r>
          </a:p>
          <a:p>
            <a:pPr>
              <a:buFont typeface="Wingdings" pitchFamily="2" charset="2"/>
              <a:buChar char="v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Traditional IDS detect only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known attacks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while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Deep Learning (DL)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models can learn to detect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new threats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automatically.</a:t>
            </a:r>
          </a:p>
          <a:p>
            <a:pPr>
              <a:buFont typeface="Wingdings" pitchFamily="2" charset="2"/>
              <a:buChar char="v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work presents 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hybrid deep learning–based IDS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that improves detection accuracy through preprocessing, feature selection, and advanced neural models</a:t>
            </a:r>
          </a:p>
          <a:p>
            <a:pPr>
              <a:buFont typeface="Wingdings" pitchFamily="2" charset="2"/>
              <a:buChar char="v"/>
            </a:pPr>
            <a:endParaRPr lang="en-IN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78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878" y="714375"/>
            <a:ext cx="8412422" cy="303350"/>
          </a:xfrm>
        </p:spPr>
        <p:txBody>
          <a:bodyPr>
            <a:noAutofit/>
          </a:bodyPr>
          <a:lstStyle/>
          <a:p>
            <a:pPr algn="ctr"/>
            <a:r>
              <a:rPr lang="en-IN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 algn="ctr">
              <a:buNone/>
            </a:pPr>
            <a:r>
              <a:rPr lang="en-US" i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Detecting </a:t>
            </a:r>
            <a:r>
              <a:rPr lang="en-US" i="1" u="sng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Unbalanced Network Traffic Intrusions with Deep </a:t>
            </a:r>
            <a:r>
              <a:rPr lang="en-US" i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Learning (</a:t>
            </a:r>
            <a:r>
              <a:rPr lang="en-IN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Reference Base Paper)</a:t>
            </a:r>
          </a:p>
          <a:p>
            <a:pPr marL="139700" indent="0" algn="ctr">
              <a:buNone/>
            </a:pPr>
            <a:endParaRPr lang="en-IN" b="1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9700" indent="0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Problems 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Identified: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Suffered from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imbalanced network data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, causing biased model results.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Contained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irrelevant and redundant features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that lowered accuracy</a:t>
            </a:r>
            <a:r>
              <a:rPr lang="en-US" sz="135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Deep learning models were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not optimized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for spatial or temporal attack patterns.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Could detect only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known attacks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, failing to identify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zero-day or new threats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hybrid feature selection or preprocessing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methods were used to enhance performance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 algn="ctr">
              <a:buNone/>
            </a:pPr>
            <a:r>
              <a:rPr lang="en-US" i="1" u="sng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Adaptive Intrusion Detection Using Hybrid Deep Learning Models and Feature </a:t>
            </a:r>
            <a:r>
              <a:rPr lang="en-US" i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Selection(</a:t>
            </a:r>
            <a:r>
              <a:rPr lang="en-IN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Proposed </a:t>
            </a:r>
            <a:r>
              <a:rPr lang="en-IN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Base Paper)</a:t>
            </a:r>
          </a:p>
          <a:p>
            <a:pPr marL="139700" indent="0">
              <a:buNone/>
            </a:pPr>
            <a:r>
              <a:rPr lang="en-IN" sz="13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Problems Solved: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IN" sz="1300" b="1" dirty="0" smtClean="0">
                <a:latin typeface="Times New Roman" pitchFamily="18" charset="0"/>
                <a:cs typeface="Times New Roman" pitchFamily="18" charset="0"/>
              </a:rPr>
              <a:t>SMOTE-ENN</a:t>
            </a: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 to balance the dataset and improve model learning.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Applied </a:t>
            </a:r>
            <a:r>
              <a:rPr lang="en-IN" sz="1300" b="1" dirty="0" smtClean="0">
                <a:latin typeface="Times New Roman" pitchFamily="18" charset="0"/>
                <a:cs typeface="Times New Roman" pitchFamily="18" charset="0"/>
              </a:rPr>
              <a:t>Boruta algorithm</a:t>
            </a: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 for selecting significant features and removing noise.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Integrated multiple deep models (</a:t>
            </a:r>
            <a:r>
              <a:rPr lang="en-IN" sz="1300" b="1" dirty="0" smtClean="0">
                <a:latin typeface="Times New Roman" pitchFamily="18" charset="0"/>
                <a:cs typeface="Times New Roman" pitchFamily="18" charset="0"/>
              </a:rPr>
              <a:t>Autoencoder, GRU, AlexNet, MiniVGGNet</a:t>
            </a: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) for hybrid detection.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Achieved </a:t>
            </a:r>
            <a:r>
              <a:rPr lang="en-IN" sz="1300" b="1" dirty="0" smtClean="0">
                <a:latin typeface="Times New Roman" pitchFamily="18" charset="0"/>
                <a:cs typeface="Times New Roman" pitchFamily="18" charset="0"/>
              </a:rPr>
              <a:t>high detection accuracy (99.67%)</a:t>
            </a: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 with lower false positives.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Enhanced capability to detect </a:t>
            </a:r>
            <a:r>
              <a:rPr lang="en-IN" sz="1300" b="1" dirty="0" smtClean="0">
                <a:latin typeface="Times New Roman" pitchFamily="18" charset="0"/>
                <a:cs typeface="Times New Roman" pitchFamily="18" charset="0"/>
              </a:rPr>
              <a:t>new and complex network attacks</a:t>
            </a: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 efficiently</a:t>
            </a:r>
            <a:r>
              <a:rPr lang="en-IN" dirty="0" smtClean="0"/>
              <a:t>.</a:t>
            </a:r>
            <a:endParaRPr lang="en-IN" dirty="0"/>
          </a:p>
          <a:p>
            <a:pPr marL="139700" indent="0">
              <a:buNone/>
            </a:pPr>
            <a:endParaRPr lang="en-IN" i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5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410" y="786396"/>
            <a:ext cx="7787271" cy="238262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To design an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adaptive Intrusion Detection System (IDS)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using hybrid deep learning models.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To handle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class imbalance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effectively using the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SMOTE-ENN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technique.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To improve model performance by applying the </a:t>
            </a:r>
            <a:r>
              <a:rPr lang="en-US" sz="1350" b="1" dirty="0" err="1">
                <a:latin typeface="Times New Roman" pitchFamily="18" charset="0"/>
                <a:cs typeface="Times New Roman" pitchFamily="18" charset="0"/>
              </a:rPr>
              <a:t>Boruta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 algorithm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feature selection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To develop and compare multiple deep learning models — </a:t>
            </a:r>
            <a:r>
              <a:rPr lang="en-US" sz="1350" b="1" dirty="0" err="1"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, GRU, </a:t>
            </a:r>
            <a:r>
              <a:rPr lang="en-US" sz="1350" b="1" dirty="0" err="1">
                <a:latin typeface="Times New Roman" pitchFamily="18" charset="0"/>
                <a:cs typeface="Times New Roman" pitchFamily="18" charset="0"/>
              </a:rPr>
              <a:t>AlexNet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350" b="1" dirty="0" err="1">
                <a:latin typeface="Times New Roman" pitchFamily="18" charset="0"/>
                <a:cs typeface="Times New Roman" pitchFamily="18" charset="0"/>
              </a:rPr>
              <a:t>MiniVGGNet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To achieve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high detection accuracy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and reduce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false positives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in identifying network attacks.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To build a system that can detect both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known and unknown (zero-day) attacks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efficiently.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 algn="ctr">
              <a:buNone/>
            </a:pPr>
            <a:r>
              <a:rPr lang="en-US" u="sng" dirty="0">
                <a:solidFill>
                  <a:srgbClr val="0070C0"/>
                </a:solidFill>
              </a:rPr>
              <a:t>Model architecture of the proposed hybrid intrusion detection system</a:t>
            </a:r>
            <a:endParaRPr lang="en-IN" u="sng" dirty="0">
              <a:solidFill>
                <a:srgbClr val="0070C0"/>
              </a:solidFill>
            </a:endParaRPr>
          </a:p>
        </p:txBody>
      </p:sp>
      <p:sp>
        <p:nvSpPr>
          <p:cNvPr id="5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75" y="1744824"/>
            <a:ext cx="3059187" cy="256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08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01" y="762725"/>
            <a:ext cx="8272463" cy="303350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Li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et al. (2021):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Proposed 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DSSTE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method to handle class imbalance using K-Means and ENN — improved accuracy but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computationally complex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for real-time use.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Khan et al. (2022):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Used </a:t>
            </a:r>
            <a:r>
              <a:rPr lang="en-IN" i="1" dirty="0" err="1">
                <a:latin typeface="Times New Roman" pitchFamily="18" charset="0"/>
                <a:cs typeface="Times New Roman" pitchFamily="18" charset="0"/>
              </a:rPr>
              <a:t>AdaBoost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 + Decision Trees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SMOTE-</a:t>
            </a:r>
            <a:r>
              <a:rPr lang="en-IN" i="1" dirty="0" err="1">
                <a:latin typeface="Times New Roman" pitchFamily="18" charset="0"/>
                <a:cs typeface="Times New Roman" pitchFamily="18" charset="0"/>
              </a:rPr>
              <a:t>Tomek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 Links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— achieved ~96% accuracy but lacked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support for sequential data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Laghrissi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et al. (2019):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Applied 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LSTM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PCA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Mutual Information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— good temporal learning but based on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outdated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KDD99 dataset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Hu et al. (2020):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Designed 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Hybrid </a:t>
            </a:r>
            <a:r>
              <a:rPr lang="en-IN" i="1" dirty="0" err="1">
                <a:latin typeface="Times New Roman" pitchFamily="18" charset="0"/>
                <a:cs typeface="Times New Roman" pitchFamily="18" charset="0"/>
              </a:rPr>
              <a:t>ResNet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IN" i="1" dirty="0" err="1">
                <a:latin typeface="Times New Roman" pitchFamily="18" charset="0"/>
                <a:cs typeface="Times New Roman" pitchFamily="18" charset="0"/>
              </a:rPr>
              <a:t>BiLSTM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with attention — high accuracy but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high computational cost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Sama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(2022):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Compared various DL models — found DL effective but with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high false positive rates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Ravindran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Sarveshwaran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(2023):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Reviewed over 50 DL-based IDS studies — identified common issues like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high dimensional data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poor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performance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suggesting the need for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better feature selection and model balance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58750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45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753" y="830051"/>
            <a:ext cx="8096494" cy="303350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9700" indent="0">
              <a:buNone/>
            </a:pPr>
            <a:r>
              <a:rPr lang="en-US" sz="135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Dataset Selection:</a:t>
            </a:r>
            <a:endParaRPr lang="en-US" sz="135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Utilized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CICIDS2017 dataset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containing real-world normal and attack traffic.</a:t>
            </a:r>
          </a:p>
          <a:p>
            <a:pPr marL="139700" indent="0">
              <a:buNone/>
            </a:pPr>
            <a:r>
              <a:rPr lang="en-US" sz="135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Preprocessing:</a:t>
            </a:r>
            <a:endParaRPr lang="en-US" sz="135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Performed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data cleaning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Min–Max normalization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Encoded categorical values and removed irrelevant fields.</a:t>
            </a:r>
          </a:p>
          <a:p>
            <a:pPr marL="139700" indent="0">
              <a:buNone/>
            </a:pPr>
            <a:r>
              <a:rPr lang="en-US" sz="135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Class Imbalance Handling:</a:t>
            </a:r>
            <a:endParaRPr lang="en-US" sz="135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SMOTE-ENN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to balance minority and majority classes by oversampling and noise removal.</a:t>
            </a:r>
          </a:p>
          <a:p>
            <a:pPr marL="139700" indent="0">
              <a:buNone/>
            </a:pPr>
            <a:r>
              <a:rPr lang="en-US" sz="135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Feature Selection:</a:t>
            </a:r>
            <a:endParaRPr lang="en-US" sz="135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Implemented </a:t>
            </a:r>
            <a:r>
              <a:rPr lang="en-US" sz="1350" b="1" dirty="0" err="1">
                <a:latin typeface="Times New Roman" pitchFamily="18" charset="0"/>
                <a:cs typeface="Times New Roman" pitchFamily="18" charset="0"/>
              </a:rPr>
              <a:t>Boruta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 algorithm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to identify and retain only the most significant features.</a:t>
            </a:r>
          </a:p>
          <a:p>
            <a:pPr>
              <a:buFont typeface="Wingdings" pitchFamily="2" charset="2"/>
              <a:buChar char="v"/>
            </a:pPr>
            <a:endParaRPr lang="en-IN" sz="135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39700" indent="0">
              <a:buNone/>
            </a:pPr>
            <a:r>
              <a:rPr lang="en-US" sz="13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Model Development:</a:t>
            </a:r>
            <a:endParaRPr lang="en-US" sz="13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Built and trained 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four deep learning models: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Courier New" pitchFamily="49" charset="0"/>
              <a:buChar char="o"/>
            </a:pP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– detects anomalies using reconstruction error.</a:t>
            </a:r>
          </a:p>
          <a:p>
            <a:pPr lvl="1">
              <a:buFont typeface="Courier New" pitchFamily="49" charset="0"/>
              <a:buChar char="o"/>
            </a:pP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GRU (Gated Recurrent Unit)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– captures temporal attack patterns.</a:t>
            </a:r>
          </a:p>
          <a:p>
            <a:pPr lvl="1">
              <a:buFont typeface="Courier New" pitchFamily="49" charset="0"/>
              <a:buChar char="o"/>
            </a:pP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AlexNet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– extracts spatial features from traffic matrices.</a:t>
            </a:r>
          </a:p>
          <a:p>
            <a:pPr lvl="1">
              <a:buFont typeface="Courier New" pitchFamily="49" charset="0"/>
              <a:buChar char="o"/>
            </a:pP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MiniVGGNet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– lightweight CNN for real-time detection.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Integrated them into a 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hybrid IDS framework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for improved accuracy and efficiency.</a:t>
            </a:r>
          </a:p>
          <a:p>
            <a:pPr>
              <a:buFont typeface="Wingdings" pitchFamily="2" charset="2"/>
              <a:buChar char="v"/>
            </a:pPr>
            <a:r>
              <a:rPr lang="en-US" sz="13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Evaluation Metrics:</a:t>
            </a:r>
            <a:endParaRPr lang="en-US" sz="13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Accuracy, Precision, Recall, and F1-Score were used to evaluate model performance.</a:t>
            </a:r>
          </a:p>
          <a:p>
            <a:pPr>
              <a:buFont typeface="Wingdings" pitchFamily="2" charset="2"/>
              <a:buChar char="v"/>
            </a:pPr>
            <a:endParaRPr lang="en-IN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-1" y="156368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964" y="209338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93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805" y="714375"/>
            <a:ext cx="8169827" cy="303350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RESULTS AND DISCUSSIONS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9700" indent="0" algn="ctr">
              <a:buNone/>
            </a:pPr>
            <a:r>
              <a:rPr lang="en-US" sz="1200" b="1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Training Loss Comparison of </a:t>
            </a:r>
            <a:r>
              <a:rPr lang="en-US" sz="1200" b="1" u="sng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1200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GRU, </a:t>
            </a:r>
            <a:r>
              <a:rPr lang="en-US" sz="1200" b="1" u="sng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AlexNet</a:t>
            </a:r>
            <a:r>
              <a:rPr lang="en-US" sz="1200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200" b="1" u="sng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VGGNet</a:t>
            </a:r>
            <a:r>
              <a:rPr lang="en-US" sz="1200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models</a:t>
            </a:r>
            <a:endParaRPr lang="en-IN" sz="1200" b="1" u="sng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39700" indent="0" algn="ctr">
              <a:buNone/>
            </a:pPr>
            <a:r>
              <a:rPr lang="en-US" sz="1200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Validation Accuracy Comparison across </a:t>
            </a:r>
            <a:r>
              <a:rPr lang="en-US" sz="1200" b="1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Models</a:t>
            </a:r>
            <a:endParaRPr lang="en-IN" sz="1200" b="1" u="sng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-1" y="156368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05" y="1735495"/>
            <a:ext cx="3337445" cy="250060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630" y="1810138"/>
            <a:ext cx="4040154" cy="225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03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996" y="755017"/>
            <a:ext cx="7460700" cy="303350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RESULTS AND DISCUSSIONS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 algn="ctr">
              <a:buNone/>
            </a:pPr>
            <a:r>
              <a:rPr lang="en-IN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Comparing plots for all models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39700" indent="0" algn="ctr">
              <a:buNone/>
            </a:pPr>
            <a:r>
              <a:rPr lang="en-US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Performance comparison of models with the proposed model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-1" y="156368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73" y="1567543"/>
            <a:ext cx="3711743" cy="285516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216" y="1754155"/>
            <a:ext cx="3704253" cy="243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83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14375"/>
            <a:ext cx="7917900" cy="303350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CONCLUSION AND FUTURE SCOPE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77" y="1077830"/>
            <a:ext cx="3999900" cy="3416400"/>
          </a:xfrm>
        </p:spPr>
        <p:txBody>
          <a:bodyPr>
            <a:normAutofit fontScale="92500"/>
          </a:bodyPr>
          <a:lstStyle/>
          <a:p>
            <a:pPr marL="139700" indent="0" algn="ctr">
              <a:buNone/>
            </a:pPr>
            <a:r>
              <a:rPr lang="en-US" b="1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Conclusion:</a:t>
            </a:r>
            <a:endParaRPr lang="en-US" b="1" u="sng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adaptive hybrid intrusion detection framework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was developed to enhance network security using deep learning and intelligent preprocessing.</a:t>
            </a:r>
          </a:p>
          <a:p>
            <a:pPr>
              <a:buFont typeface="Wingdings" pitchFamily="2" charset="2"/>
              <a:buChar char="v"/>
            </a:pP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SMOTE-ENN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effectively balanced the dataset, while </a:t>
            </a: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Boruta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 feature selection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improved model efficiency and accuracy.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The combination of </a:t>
            </a: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, GRU, </a:t>
            </a: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AlexNet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MiniVGGNet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provided robust detection of diverse </a:t>
            </a:r>
            <a:r>
              <a:rPr lang="en-US" sz="1300" dirty="0" err="1" smtClean="0">
                <a:latin typeface="Times New Roman" pitchFamily="18" charset="0"/>
                <a:cs typeface="Times New Roman" pitchFamily="18" charset="0"/>
              </a:rPr>
              <a:t>cyberattacks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The system achieved 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high accuracy (99.67%)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and demonstrated strong ability to identify 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unknown and zero-day attacks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Overall, the approach proved that integrating 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balanced data, optimized features, and hybrid deep models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significantly boosts IDS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performance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performance.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 algn="ctr">
              <a:buNone/>
            </a:pPr>
            <a:r>
              <a:rPr lang="en-US" b="1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Future scope:</a:t>
            </a:r>
          </a:p>
          <a:p>
            <a:pPr marL="139700" indent="0" algn="ctr">
              <a:buNone/>
            </a:pPr>
            <a:endParaRPr lang="en-US" b="1" u="sng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Extend the model to 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real-time and large-scale network monitoring systems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Incorporate 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attention and transformer mechanisms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to improve pattern learning.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Optimize for </a:t>
            </a:r>
            <a:r>
              <a:rPr lang="en-US" sz="1300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, cloud, and edge computing environments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with lightweight deployment.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Enable 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online or continual learning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for adaptive intrusion detection in dynamic networks.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Implement 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explainable AI (XAI)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methods to make the model’s decisions more transparent.</a:t>
            </a:r>
          </a:p>
          <a:p>
            <a:pPr marL="139700" indent="0">
              <a:buNone/>
            </a:pPr>
            <a:endParaRPr lang="en-IN" sz="13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-1" y="156368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99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994" y="787330"/>
            <a:ext cx="7647312" cy="303350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S.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Aljawarneh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M.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Aldwairi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and M.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Yassein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“Anomaly-based intrusion detection system through feature selection analysis and building hybrid efficient model,”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i="1" dirty="0">
                <a:latin typeface="Times New Roman" pitchFamily="18" charset="0"/>
                <a:cs typeface="Times New Roman" pitchFamily="18" charset="0"/>
              </a:rPr>
              <a:t>Journal of Computer Science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vol. 25, pp. 152–160, 2018.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N. Shone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T. N. Ngoc, V. D.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Phai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and Q. Shi,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“A deep learning approach to network intrusion detection,”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i="1" dirty="0">
                <a:latin typeface="Times New Roman" pitchFamily="18" charset="0"/>
                <a:cs typeface="Times New Roman" pitchFamily="18" charset="0"/>
              </a:rPr>
              <a:t>IEEE Transactions on Emerging Topics in Computational Intelligence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vol. 2, no. 1, pp. 41–50, 2018.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N. V.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Chawla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K. W. Bowyer, L. O. Hall, and W. P.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Kegelmeyer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“SMOTE: Synthetic minority over-sampling technique,”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i="1" dirty="0">
                <a:latin typeface="Times New Roman" pitchFamily="18" charset="0"/>
                <a:cs typeface="Times New Roman" pitchFamily="18" charset="0"/>
              </a:rPr>
              <a:t>Journal of Artificial Intelligence Research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vol. 16, pp. 321–357, 2002.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M. B.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Kursa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and W. R.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Rudnicki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“Feature selection with the Boruta package,”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i="1" dirty="0">
                <a:latin typeface="Times New Roman" pitchFamily="18" charset="0"/>
                <a:cs typeface="Times New Roman" pitchFamily="18" charset="0"/>
              </a:rPr>
              <a:t>Journal of Statistical Software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vol. 36, no. 11, pp. 1–13, 2010.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K. S.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Babu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and Y. N.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Rao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“MCGAN: Modified Conditional Generative Adversarial Network for class imbalance problems in network intrusion detection system,”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i="1" dirty="0">
                <a:latin typeface="Times New Roman" pitchFamily="18" charset="0"/>
                <a:cs typeface="Times New Roman" pitchFamily="18" charset="0"/>
              </a:rPr>
              <a:t>Applied Sciences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vol. 13, no. 4, p. 2576, 2023.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I.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Sharafaldin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A.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Habibi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Lashkari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and A.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Ghorbani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“Toward generating a new intrusion detection dataset and intrusion traffic characterization,”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i="1" dirty="0">
                <a:latin typeface="Times New Roman" pitchFamily="18" charset="0"/>
                <a:cs typeface="Times New Roman" pitchFamily="18" charset="0"/>
              </a:rPr>
              <a:t>Proceedings of ICISSP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2018.</a:t>
            </a:r>
          </a:p>
          <a:p>
            <a:endParaRPr lang="en-IN" dirty="0"/>
          </a:p>
        </p:txBody>
      </p:sp>
      <p:sp>
        <p:nvSpPr>
          <p:cNvPr id="4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-1" y="156368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9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IN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-1" y="156368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1633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2235</TotalTime>
  <Words>949</Words>
  <Application>Microsoft Office PowerPoint</Application>
  <PresentationFormat>On-screen Show (16:9)</PresentationFormat>
  <Paragraphs>105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Wingdings</vt:lpstr>
      <vt:lpstr>Simple Light</vt:lpstr>
      <vt:lpstr>PowerPoint Presentation</vt:lpstr>
      <vt:lpstr>PowerPoint Presentation</vt:lpstr>
      <vt:lpstr>PowerPoint Presentation</vt:lpstr>
      <vt:lpstr>PROBLEM STATEMENT</vt:lpstr>
      <vt:lpstr>OBJECTIVE</vt:lpstr>
      <vt:lpstr>LITERATURE REVIEW</vt:lpstr>
      <vt:lpstr>METHODOLOGY</vt:lpstr>
      <vt:lpstr>RESULTS AND DISCUSSIONS</vt:lpstr>
      <vt:lpstr>RESULTS AND DISCUSSIONS</vt:lpstr>
      <vt:lpstr>CONCLUSION AND FUTURE SCOPE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ismail - [2010]</cp:lastModifiedBy>
  <cp:revision>29</cp:revision>
  <dcterms:modified xsi:type="dcterms:W3CDTF">2025-10-20T12:42:55Z</dcterms:modified>
</cp:coreProperties>
</file>